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515" autoAdjust="0"/>
  </p:normalViewPr>
  <p:slideViewPr>
    <p:cSldViewPr snapToGrid="0" snapToObjects="1">
      <p:cViewPr varScale="1">
        <p:scale>
          <a:sx n="79" d="100"/>
          <a:sy n="79" d="100"/>
        </p:scale>
        <p:origin x="17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7013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 introduce the session.</a:t>
            </a:r>
          </a:p>
          <a:p>
            <a:endParaRPr/>
          </a:p>
          <a:p>
            <a:r>
              <a:t>Live Call Translation is a real-time speech translation service that sits between a Genesys Cloud contact centre and the caller. It lets agents handle calls in any language without needing a human interpreter.</a:t>
            </a:r>
          </a:p>
          <a:p>
            <a:endParaRPr/>
          </a:p>
          <a:p>
            <a:r>
              <a:t>This deck covers:</a:t>
            </a:r>
          </a:p>
          <a:p>
            <a:r>
              <a:t>- What the system does and how it works end to end</a:t>
            </a:r>
          </a:p>
          <a:p>
            <a:r>
              <a:t>- How to run and test it locally using the built-in Genesys Simulator</a:t>
            </a:r>
          </a:p>
          <a:p>
            <a:r>
              <a:t>- How to configure a real Genesys Cloud org to use it</a:t>
            </a:r>
          </a:p>
          <a:p>
            <a:endParaRPr/>
          </a:p>
          <a:p>
            <a:r>
              <a:t>The whole translation pipeline — speech recognition, translation, and text-to-speech — runs through a single Azure AI Speech resource. No other Azure services are required when using Genesys mode.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gives the full picture before going into the detail.</a:t>
            </a:r>
          </a:p>
          <a:p>
            <a:endParaRPr/>
          </a:p>
          <a:p>
            <a:r>
              <a:t>The core problem: a caller speaks a language the agent doesn't understand. Live Call Translation sits in between and translates both sides of the conversation in real time — the caller never knows they're being translated.</a:t>
            </a:r>
          </a:p>
          <a:p>
            <a:endParaRPr/>
          </a:p>
          <a:p>
            <a:r>
              <a:t>Key points to land:</a:t>
            </a:r>
          </a:p>
          <a:p>
            <a:r>
              <a:t>- Both directions run simultaneously and independently — the caller doesn't have to wait for the agent to finish speaking before their translation starts.</a:t>
            </a:r>
          </a:p>
          <a:p>
            <a:r>
              <a:t>- The agent's browser shows the original text and the translation side by side, so they can follow the conversation even before the audio plays.</a:t>
            </a:r>
          </a:p>
          <a:p>
            <a:r>
              <a:t>- Translation begins before the full sentence is finished — the system detects sentence boundaries (punctuation) and starts synthesising early to reduce latency.</a:t>
            </a:r>
          </a:p>
          <a:p>
            <a:endParaRPr/>
          </a:p>
          <a:p>
            <a:r>
              <a:t>Three modes exist. This deck focuses on Genesys Cloud (production) and Genesys Simulator (local dev/testing). The ACS/Browser mode is a legacy standalone mode not covered in depth 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full journey of a call from the moment the caller dials to the moment the agent hears translated audio — and back again.</a:t>
            </a:r>
          </a:p>
          <a:p>
            <a:endParaRPr/>
          </a:p>
          <a:p>
            <a:r>
              <a:t>Walk through the top flow boxes (1 through 4) left to right:</a:t>
            </a:r>
          </a:p>
          <a:p>
            <a:r>
              <a:t>1. Caller dials the Genesys queue number — just a normal phone call.</a:t>
            </a:r>
          </a:p>
          <a:p>
            <a:r>
              <a:t>2. Genesys Architect routes the call and hits the AudioHook action in the flow — this triggers Genesys to open a WebSocket connection to our app.</a:t>
            </a:r>
          </a:p>
          <a:p>
            <a:r>
              <a:t>3. Our app (GenesysWebSocketHandler) receives the connection. Audio starts arriving as raw binary frames.</a:t>
            </a:r>
          </a:p>
          <a:p>
            <a:r>
              <a:t>4. The agent opens their browser UI, selects the call and the language, and starts hearing translated audio.</a:t>
            </a:r>
          </a:p>
          <a:p>
            <a:endParaRPr/>
          </a:p>
          <a:p>
            <a:r>
              <a:t>The two translation pipelines run at the same time:</a:t>
            </a:r>
          </a:p>
          <a:p>
            <a:r>
              <a:t>- Caller to Agent: µ-law frames come in, we decode to PCM, send to Azure AI Speech (STT + translate + TTS), the synthesised audio goes into the DynamicMixer, and plays in the agent's browser.</a:t>
            </a:r>
          </a:p>
          <a:p>
            <a:r>
              <a:t>- Agent to Caller: agent speech goes into Azure AI Speech, the translated audio is re-encoded from PCM back to µ-law, and sent over the WebSocket back to Genesys, which plays it on the caller's phone.</a:t>
            </a:r>
          </a:p>
          <a:p>
            <a:endParaRPr/>
          </a:p>
          <a:p>
            <a:r>
              <a:t>AudioHook v2 protocol key point: Genesys always initiates — our app is a passive server. We never connect to Genesys. This is why EventGrid is not needed — there's no event subscription required, Genesys just opens the WebSocket directly.</a:t>
            </a:r>
          </a:p>
          <a:p>
            <a:endParaRPr/>
          </a:p>
          <a:p>
            <a:r>
              <a:t>The ping/pong keepalive is important — if our app misses a ping, Genesys will drop the connection after a short timeout.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Genesys Simulator is the fastest way to test and demo the system — no Genesys account, no phone number, no public URL required. Everything runs on localhost.</a:t>
            </a:r>
          </a:p>
          <a:p>
            <a:endParaRPr dirty="0"/>
          </a:p>
          <a:p>
            <a:r>
              <a:rPr dirty="0"/>
              <a:t>What makes it useful: it sends exactly the same WebSocket protocol and audio format as real Genesys. The server cannot distinguish between them. This means you can develop and validate the entire translation pipeline locally before touching production.</a:t>
            </a:r>
          </a:p>
          <a:p>
            <a:endParaRPr dirty="0"/>
          </a:p>
          <a:p>
            <a:r>
              <a:rPr dirty="0"/>
              <a:t>Walk through the step-by-step flow on the left:</a:t>
            </a:r>
          </a:p>
          <a:p>
            <a:r>
              <a:rPr dirty="0"/>
              <a:t>- The browser generates a UUID and sends an </a:t>
            </a:r>
            <a:r>
              <a:rPr dirty="0" err="1"/>
              <a:t>AudioHook</a:t>
            </a:r>
            <a:r>
              <a:rPr dirty="0"/>
              <a:t> v2 'open' message — this is the same JSON structure Genesys would send.</a:t>
            </a:r>
          </a:p>
          <a:p>
            <a:r>
              <a:rPr dirty="0"/>
              <a:t>- The AudioWorklet captures mic audio, resamples it from the browser's native sample rate down to 16kHz, then mulaw.js encodes it to µ-law 8kHz — exactly what Genesys sends over the wire.</a:t>
            </a:r>
          </a:p>
          <a:p>
            <a:r>
              <a:rPr dirty="0"/>
              <a:t>- The server decodes it, runs it through Azure AI Speech, and returns translated audio as µ-law binary frames.</a:t>
            </a:r>
          </a:p>
          <a:p>
            <a:r>
              <a:rPr dirty="0"/>
              <a:t>- The browser decodes those frames and plays them through the speakers.</a:t>
            </a:r>
          </a:p>
          <a:p>
            <a:endParaRPr dirty="0"/>
          </a:p>
          <a:p>
            <a:r>
              <a:rPr dirty="0"/>
              <a:t>The right column shows how quick it is to run: just dotnet run, open two browser tabs, and speak.</a:t>
            </a:r>
          </a:p>
          <a:p>
            <a:endParaRPr dirty="0"/>
          </a:p>
          <a:p>
            <a:r>
              <a:rPr dirty="0"/>
              <a:t>mulaw.js is the browser-side mirror of </a:t>
            </a:r>
            <a:r>
              <a:rPr dirty="0" err="1"/>
              <a:t>MuLawConverter.cs</a:t>
            </a:r>
            <a:r>
              <a:rPr dirty="0"/>
              <a:t> on the server — same algorithm, same bit manipulation, same encode/decode contract. This symmetry is what makes Simulator audio indistinguishable from real Genesys audio on the server.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useful when someone asks 'how is the simulator different from real Genesys?' — the answer is: almost nothing on the server side.</a:t>
            </a:r>
          </a:p>
          <a:p>
            <a:endParaRPr/>
          </a:p>
          <a:p>
            <a:r>
              <a:t>Point out the 'identical' rows — audio format and AudioHook v2 messages are the same. The server runs the exact same GenesysWebSocketHandler and GenesysCallBridge for both.</a:t>
            </a:r>
          </a:p>
          <a:p>
            <a:endParaRPr/>
          </a:p>
          <a:p>
            <a:r>
              <a:t>The two differences that do exist:</a:t>
            </a:r>
          </a:p>
          <a:p>
            <a:r>
              <a:t>1. Session ID: real Genesys passes it as an HTTP header ('audiohook-session-id'); the simulator passes it as a URL query parameter (?sessionId=). The server reads both in the same place.</a:t>
            </a:r>
          </a:p>
          <a:p>
            <a:r>
              <a:t>2. Language hint: real Genesys can pass the caller's language via an Architect input variable; the simulator doesn't — the agent picks it manually from the UI. This is intentional — in production you'd know the language from IVR menus or ANI routing.</a:t>
            </a:r>
          </a:p>
          <a:p>
            <a:endParaRPr/>
          </a:p>
          <a:p>
            <a:r>
              <a:t>The 'caller phone number' row is worth noting — the simulator sends a hardcoded dummy (+15551234567). This is visible in the agent UI so agents know it's a simulator call.</a:t>
            </a:r>
          </a:p>
          <a:p>
            <a:endParaRPr/>
          </a:p>
          <a:p>
            <a:r>
              <a:t>Setup required is the starkest contrast: real Genesys needs a Cloud org, an AudioHook integration configured with your public URL, an Architect flow, and a routable wss:// hostname. Simulator needs only dotnet run.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covers the three things that need to be done in Genesys Admin to wire up a real deployment.</a:t>
            </a:r>
          </a:p>
          <a:p>
            <a:endParaRPr/>
          </a:p>
          <a:p>
            <a:r>
              <a:t>Step 1 — AudioHook Integration:</a:t>
            </a:r>
          </a:p>
          <a:p>
            <a:r>
              <a:t>- This tells Genesys where to send audio. The Connection URI is the wss:// address of our app — must be publicly reachable from Genesys Cloud's servers.</a:t>
            </a:r>
          </a:p>
          <a:p>
            <a:r>
              <a:t>- Channel: external is critical. 'external' means Genesys streams the caller's audio (the external party). 'both' would stream both sides, but we only need the caller — the agent's audio comes through the browser.</a:t>
            </a:r>
          </a:p>
          <a:p>
            <a:r>
              <a:t>- When you toggle it Active, Genesys immediately does a test WebSocket handshake. If the URL isn't reachable or the handshake fails, Genesys will show an error. This is a quick connectivity check.</a:t>
            </a:r>
          </a:p>
          <a:p>
            <a:endParaRPr/>
          </a:p>
          <a:p>
            <a:r>
              <a:t>Step 2 — Architect Flow:</a:t>
            </a:r>
          </a:p>
          <a:p>
            <a:r>
              <a:t>- The 'Call AudioHook' action is where translation starts. Everything before it (IVR menus, authentication, queue routing) is unaffected.</a:t>
            </a:r>
          </a:p>
          <a:p>
            <a:r>
              <a:t>- The language input variable is optional but recommended. Without it, the agent has to manually select the language from the UI before clicking Connect — adds friction on a live call.</a:t>
            </a:r>
          </a:p>
          <a:p>
            <a:r>
              <a:t>- The flow continues normally after the AudioHook action — transfer to queue, whisper, etc. Translation runs in parallel.</a:t>
            </a:r>
          </a:p>
          <a:p>
            <a:endParaRPr/>
          </a:p>
          <a:p>
            <a:r>
              <a:t>Step 3 — Agent setup:</a:t>
            </a:r>
          </a:p>
          <a:p>
            <a:r>
              <a:t>- Agents access the UI via /agent/. The auth code in the URL (?code=...) prevents unauthorised access.</a:t>
            </a:r>
          </a:p>
          <a:p>
            <a:r>
              <a:t>- No special software — just a Chrome or Edge browser with a microphone.</a:t>
            </a:r>
          </a:p>
          <a:p>
            <a:r>
              <a:t>- The DynamicMixer controls let agents adjust what they hear mid-call. 'User Translated Audio' is the main one — that's the caller translated into English.</a:t>
            </a:r>
          </a:p>
          <a:p>
            <a:endParaRPr/>
          </a:p>
          <a:p>
            <a:r>
              <a:t>Authentication note: Genesys AudioHook does not support sending credentials with the WebSocket connection, so /ws/genesys is intentionally open. If the app is deployed in a private network, this is fine. For public deployments, restrict by IP allowlist at the reverse proxy or network layer.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0"/>
            <a:ext cx="11430000" cy="254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11430000" cy="1188720"/>
          </a:xfrm>
          <a:prstGeom prst="rect">
            <a:avLst/>
          </a:prstGeom>
          <a:noFill/>
        </p:spPr>
        <p:txBody>
          <a:bodyPr wrap="square">
            <a:spAutoFit/>
          </a:bodyPr>
          <a:lstStyle/>
          <a:p>
            <a:pPr algn="l"/>
            <a:r>
              <a:rPr sz="4800" b="1">
                <a:solidFill>
                  <a:srgbClr val="FFFFFF"/>
                </a:solidFill>
                <a:latin typeface="Segoe UI"/>
              </a:rPr>
              <a:t>Live Call Translation</a:t>
            </a:r>
          </a:p>
        </p:txBody>
      </p:sp>
      <p:sp>
        <p:nvSpPr>
          <p:cNvPr id="6" name="TextBox 5"/>
          <p:cNvSpPr txBox="1"/>
          <p:nvPr/>
        </p:nvSpPr>
        <p:spPr>
          <a:xfrm>
            <a:off x="457200" y="2743200"/>
            <a:ext cx="11430000" cy="822960"/>
          </a:xfrm>
          <a:prstGeom prst="rect">
            <a:avLst/>
          </a:prstGeom>
          <a:noFill/>
        </p:spPr>
        <p:txBody>
          <a:bodyPr wrap="square">
            <a:spAutoFit/>
          </a:bodyPr>
          <a:lstStyle/>
          <a:p>
            <a:pPr algn="l"/>
            <a:r>
              <a:rPr sz="2200" b="0">
                <a:solidFill>
                  <a:srgbClr val="BBCCFF"/>
                </a:solidFill>
                <a:latin typeface="Segoe UI"/>
              </a:rPr>
              <a:t>Real-time bidirectional speech translation
for Genesys Cloud contact centres</a:t>
            </a:r>
          </a:p>
        </p:txBody>
      </p:sp>
      <p:sp>
        <p:nvSpPr>
          <p:cNvPr id="7" name="TextBox 6"/>
          <p:cNvSpPr txBox="1"/>
          <p:nvPr/>
        </p:nvSpPr>
        <p:spPr>
          <a:xfrm>
            <a:off x="457200" y="3429000"/>
            <a:ext cx="11430000" cy="457200"/>
          </a:xfrm>
          <a:prstGeom prst="rect">
            <a:avLst/>
          </a:prstGeom>
          <a:noFill/>
        </p:spPr>
        <p:txBody>
          <a:bodyPr wrap="square">
            <a:spAutoFit/>
          </a:bodyPr>
          <a:lstStyle/>
          <a:p>
            <a:pPr algn="l"/>
            <a:r>
              <a:rPr sz="1400" b="0">
                <a:solidFill>
                  <a:srgbClr val="8899BB"/>
                </a:solidFill>
                <a:latin typeface="Segoe UI"/>
              </a:rPr>
              <a:t>Azure AI Speech   ·   Genesys AudioHook v2   ·   ASP.NET Core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04" y="-1181331"/>
            <a:ext cx="12188952" cy="6858000"/>
          </a:xfrm>
          <a:prstGeom prst="rect">
            <a:avLst/>
          </a:prstGeom>
          <a:solidFill>
            <a:srgbClr val="F7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960120"/>
          </a:xfrm>
          <a:prstGeom prst="rect">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 cy="9601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91440"/>
            <a:ext cx="11704320" cy="548640"/>
          </a:xfrm>
          <a:prstGeom prst="rect">
            <a:avLst/>
          </a:prstGeom>
          <a:noFill/>
        </p:spPr>
        <p:txBody>
          <a:bodyPr wrap="square">
            <a:spAutoFit/>
          </a:bodyPr>
          <a:lstStyle/>
          <a:p>
            <a:pPr algn="l"/>
            <a:r>
              <a:rPr sz="2600" b="1">
                <a:solidFill>
                  <a:srgbClr val="FFFFFF"/>
                </a:solidFill>
                <a:latin typeface="Segoe UI"/>
              </a:rPr>
              <a:t>Live Call Translation</a:t>
            </a:r>
          </a:p>
        </p:txBody>
      </p:sp>
      <p:sp>
        <p:nvSpPr>
          <p:cNvPr id="6" name="TextBox 5"/>
          <p:cNvSpPr txBox="1"/>
          <p:nvPr/>
        </p:nvSpPr>
        <p:spPr>
          <a:xfrm>
            <a:off x="182880" y="621792"/>
            <a:ext cx="11704320" cy="301752"/>
          </a:xfrm>
          <a:prstGeom prst="rect">
            <a:avLst/>
          </a:prstGeom>
          <a:noFill/>
        </p:spPr>
        <p:txBody>
          <a:bodyPr wrap="square">
            <a:spAutoFit/>
          </a:bodyPr>
          <a:lstStyle/>
          <a:p>
            <a:pPr algn="l"/>
            <a:r>
              <a:rPr sz="1200" b="0">
                <a:solidFill>
                  <a:srgbClr val="BBCCFF"/>
                </a:solidFill>
                <a:latin typeface="Segoe UI"/>
              </a:rPr>
              <a:t>Real-time bidirectional speech translation between a caller and a contact centre agent</a:t>
            </a:r>
          </a:p>
        </p:txBody>
      </p:sp>
      <p:sp>
        <p:nvSpPr>
          <p:cNvPr id="8" name="Rectangle 7"/>
          <p:cNvSpPr/>
          <p:nvPr/>
        </p:nvSpPr>
        <p:spPr>
          <a:xfrm>
            <a:off x="255905" y="1261873"/>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252728"/>
            <a:ext cx="5522976" cy="201168"/>
          </a:xfrm>
          <a:prstGeom prst="rect">
            <a:avLst/>
          </a:prstGeom>
          <a:noFill/>
        </p:spPr>
        <p:txBody>
          <a:bodyPr wrap="square">
            <a:spAutoFit/>
          </a:bodyPr>
          <a:lstStyle/>
          <a:p>
            <a:pPr algn="l"/>
            <a:r>
              <a:rPr sz="900" b="1" dirty="0">
                <a:solidFill>
                  <a:srgbClr val="555566"/>
                </a:solidFill>
                <a:latin typeface="Segoe UI"/>
              </a:rPr>
              <a:t>WHAT IT DOES</a:t>
            </a:r>
          </a:p>
        </p:txBody>
      </p:sp>
      <p:sp>
        <p:nvSpPr>
          <p:cNvPr id="10" name="TextBox 9"/>
          <p:cNvSpPr txBox="1"/>
          <p:nvPr/>
        </p:nvSpPr>
        <p:spPr>
          <a:xfrm>
            <a:off x="182880" y="1680463"/>
            <a:ext cx="5669280" cy="1828800"/>
          </a:xfrm>
          <a:prstGeom prst="rect">
            <a:avLst/>
          </a:prstGeom>
          <a:noFill/>
        </p:spPr>
        <p:txBody>
          <a:bodyPr wrap="square">
            <a:spAutoFit/>
          </a:bodyPr>
          <a:lstStyle/>
          <a:p>
            <a:pPr>
              <a:spcBef>
                <a:spcPts val="500"/>
              </a:spcBef>
            </a:pPr>
            <a:r>
              <a:rPr sz="1200" b="0" dirty="0">
                <a:solidFill>
                  <a:srgbClr val="1A1A2E"/>
                </a:solidFill>
                <a:latin typeface="Segoe UI"/>
              </a:rPr>
              <a:t>Translates speech in real time — both directions, simultaneously</a:t>
            </a:r>
          </a:p>
          <a:p>
            <a:pPr>
              <a:spcBef>
                <a:spcPts val="500"/>
              </a:spcBef>
            </a:pPr>
            <a:r>
              <a:rPr sz="1200" b="0" dirty="0">
                <a:solidFill>
                  <a:srgbClr val="1A1A2E"/>
                </a:solidFill>
                <a:latin typeface="Segoe UI"/>
              </a:rPr>
              <a:t>Caller hears the agent's words spoken in their language</a:t>
            </a:r>
          </a:p>
          <a:p>
            <a:pPr>
              <a:spcBef>
                <a:spcPts val="500"/>
              </a:spcBef>
            </a:pPr>
            <a:r>
              <a:rPr sz="1200" b="0" dirty="0">
                <a:solidFill>
                  <a:srgbClr val="1A1A2E"/>
                </a:solidFill>
                <a:latin typeface="Segoe UI"/>
              </a:rPr>
              <a:t>Agent hears the caller's words spoken in English (or any target language)</a:t>
            </a:r>
          </a:p>
          <a:p>
            <a:pPr>
              <a:spcBef>
                <a:spcPts val="500"/>
              </a:spcBef>
            </a:pPr>
            <a:r>
              <a:rPr sz="1200" b="0" dirty="0">
                <a:solidFill>
                  <a:srgbClr val="1A1A2E"/>
                </a:solidFill>
                <a:latin typeface="Segoe UI"/>
              </a:rPr>
              <a:t>Agent browser shows live transcription — original text + translation side by side</a:t>
            </a:r>
          </a:p>
          <a:p>
            <a:pPr>
              <a:spcBef>
                <a:spcPts val="500"/>
              </a:spcBef>
            </a:pPr>
            <a:r>
              <a:rPr sz="1200" b="0" dirty="0">
                <a:solidFill>
                  <a:srgbClr val="1A1A2E"/>
                </a:solidFill>
                <a:latin typeface="Segoe UI"/>
              </a:rPr>
              <a:t>Supports 16 languages out of the box, easily extended</a:t>
            </a:r>
          </a:p>
          <a:p>
            <a:pPr>
              <a:spcBef>
                <a:spcPts val="500"/>
              </a:spcBef>
            </a:pPr>
            <a:r>
              <a:rPr sz="1200" b="0" dirty="0">
                <a:solidFill>
                  <a:srgbClr val="1A1A2E"/>
                </a:solidFill>
                <a:latin typeface="Segoe UI"/>
              </a:rPr>
              <a:t>Zero changes needed to existing Genesys Architect flows beyond one </a:t>
            </a:r>
            <a:r>
              <a:rPr sz="1200" b="0" dirty="0" err="1">
                <a:solidFill>
                  <a:srgbClr val="1A1A2E"/>
                </a:solidFill>
                <a:latin typeface="Segoe UI"/>
              </a:rPr>
              <a:t>AudioHook</a:t>
            </a:r>
            <a:r>
              <a:rPr sz="1200" b="0" dirty="0">
                <a:solidFill>
                  <a:srgbClr val="1A1A2E"/>
                </a:solidFill>
                <a:latin typeface="Segoe UI"/>
              </a:rPr>
              <a:t> action</a:t>
            </a:r>
          </a:p>
        </p:txBody>
      </p:sp>
      <p:sp>
        <p:nvSpPr>
          <p:cNvPr id="11" name="Rectangle 10"/>
          <p:cNvSpPr/>
          <p:nvPr/>
        </p:nvSpPr>
        <p:spPr>
          <a:xfrm>
            <a:off x="6263640" y="1234440"/>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1252728"/>
            <a:ext cx="5522976" cy="201168"/>
          </a:xfrm>
          <a:prstGeom prst="rect">
            <a:avLst/>
          </a:prstGeom>
          <a:noFill/>
        </p:spPr>
        <p:txBody>
          <a:bodyPr wrap="square">
            <a:spAutoFit/>
          </a:bodyPr>
          <a:lstStyle/>
          <a:p>
            <a:pPr algn="l"/>
            <a:r>
              <a:rPr sz="900" b="1">
                <a:solidFill>
                  <a:srgbClr val="555566"/>
                </a:solidFill>
                <a:latin typeface="Segoe UI"/>
              </a:rPr>
              <a:t>HOW IT WORKS — THE THREE-STAGE PIPELINE</a:t>
            </a:r>
          </a:p>
        </p:txBody>
      </p:sp>
      <p:sp>
        <p:nvSpPr>
          <p:cNvPr id="13" name="TextBox 12"/>
          <p:cNvSpPr txBox="1"/>
          <p:nvPr/>
        </p:nvSpPr>
        <p:spPr>
          <a:xfrm>
            <a:off x="6291072" y="1539240"/>
            <a:ext cx="5669280" cy="2011680"/>
          </a:xfrm>
          <a:prstGeom prst="rect">
            <a:avLst/>
          </a:prstGeom>
          <a:noFill/>
        </p:spPr>
        <p:txBody>
          <a:bodyPr wrap="square">
            <a:spAutoFit/>
          </a:bodyPr>
          <a:lstStyle/>
          <a:p>
            <a:pPr>
              <a:spcBef>
                <a:spcPts val="500"/>
              </a:spcBef>
            </a:pPr>
            <a:r>
              <a:rPr sz="1300" b="1" dirty="0">
                <a:solidFill>
                  <a:srgbClr val="003A6E"/>
                </a:solidFill>
                <a:latin typeface="Segoe UI"/>
              </a:rPr>
              <a:t>Speech-to-Text  (STT)</a:t>
            </a:r>
          </a:p>
          <a:p>
            <a:pPr lvl="1">
              <a:spcBef>
                <a:spcPts val="200"/>
              </a:spcBef>
            </a:pPr>
            <a:r>
              <a:rPr sz="1100" b="0" dirty="0">
                <a:solidFill>
                  <a:srgbClr val="555566"/>
                </a:solidFill>
                <a:latin typeface="Segoe UI"/>
              </a:rPr>
              <a:t>Azure AI Speech converts the speaker's voice to text in their language</a:t>
            </a:r>
          </a:p>
          <a:p>
            <a:pPr>
              <a:spcBef>
                <a:spcPts val="500"/>
              </a:spcBef>
            </a:pPr>
            <a:r>
              <a:rPr sz="1300" b="1" dirty="0">
                <a:solidFill>
                  <a:srgbClr val="003A6E"/>
                </a:solidFill>
                <a:latin typeface="Segoe UI"/>
              </a:rPr>
              <a:t>Translation</a:t>
            </a:r>
          </a:p>
          <a:p>
            <a:pPr lvl="1">
              <a:spcBef>
                <a:spcPts val="200"/>
              </a:spcBef>
            </a:pPr>
            <a:r>
              <a:rPr sz="1100" b="0" dirty="0">
                <a:solidFill>
                  <a:srgbClr val="555566"/>
                </a:solidFill>
                <a:latin typeface="Segoe UI"/>
              </a:rPr>
              <a:t>Azure AI Speech translates the text into the target language</a:t>
            </a:r>
          </a:p>
          <a:p>
            <a:pPr>
              <a:spcBef>
                <a:spcPts val="500"/>
              </a:spcBef>
            </a:pPr>
            <a:r>
              <a:rPr sz="1300" b="1" dirty="0">
                <a:solidFill>
                  <a:srgbClr val="003A6E"/>
                </a:solidFill>
                <a:latin typeface="Segoe UI"/>
              </a:rPr>
              <a:t>Text-to-Speech  (TTS)</a:t>
            </a:r>
          </a:p>
          <a:p>
            <a:pPr lvl="1">
              <a:spcBef>
                <a:spcPts val="200"/>
              </a:spcBef>
            </a:pPr>
            <a:r>
              <a:rPr sz="1100" b="0" dirty="0">
                <a:solidFill>
                  <a:srgbClr val="555566"/>
                </a:solidFill>
                <a:latin typeface="Segoe UI"/>
              </a:rPr>
              <a:t>Azure AI Speech </a:t>
            </a:r>
            <a:r>
              <a:rPr sz="1100" b="0" dirty="0" err="1">
                <a:solidFill>
                  <a:srgbClr val="555566"/>
                </a:solidFill>
                <a:latin typeface="Segoe UI"/>
              </a:rPr>
              <a:t>synthesises</a:t>
            </a:r>
            <a:r>
              <a:rPr sz="1100" b="0" dirty="0">
                <a:solidFill>
                  <a:srgbClr val="555566"/>
                </a:solidFill>
                <a:latin typeface="Segoe UI"/>
              </a:rPr>
              <a:t> the translated text into natural-sounding speech</a:t>
            </a:r>
          </a:p>
          <a:p>
            <a:pPr lvl="1">
              <a:spcBef>
                <a:spcPts val="200"/>
              </a:spcBef>
            </a:pPr>
            <a:r>
              <a:rPr sz="1100" b="0" dirty="0">
                <a:solidFill>
                  <a:srgbClr val="555566"/>
                </a:solidFill>
                <a:latin typeface="Segoe UI"/>
              </a:rPr>
              <a:t>Translation begins speaking before the full sentence is complete — low latency</a:t>
            </a:r>
          </a:p>
          <a:p>
            <a:pPr>
              <a:spcBef>
                <a:spcPts val="500"/>
              </a:spcBef>
            </a:pPr>
            <a:r>
              <a:rPr sz="1300" b="1" dirty="0" err="1">
                <a:solidFill>
                  <a:srgbClr val="003A6E"/>
                </a:solidFill>
                <a:latin typeface="Segoe UI"/>
              </a:rPr>
              <a:t>DynamicMixer</a:t>
            </a:r>
            <a:endParaRPr sz="1300" b="1" dirty="0">
              <a:solidFill>
                <a:srgbClr val="003A6E"/>
              </a:solidFill>
              <a:latin typeface="Segoe UI"/>
            </a:endParaRPr>
          </a:p>
          <a:p>
            <a:pPr lvl="1">
              <a:spcBef>
                <a:spcPts val="200"/>
              </a:spcBef>
            </a:pPr>
            <a:r>
              <a:rPr sz="1100" b="0" dirty="0">
                <a:solidFill>
                  <a:srgbClr val="555566"/>
                </a:solidFill>
                <a:latin typeface="Segoe UI"/>
              </a:rPr>
              <a:t>Blends original + translated audio streams — agent can hear both if needed</a:t>
            </a:r>
          </a:p>
        </p:txBody>
      </p:sp>
      <p:sp>
        <p:nvSpPr>
          <p:cNvPr id="14" name="Rectangle 13"/>
          <p:cNvSpPr/>
          <p:nvPr/>
        </p:nvSpPr>
        <p:spPr>
          <a:xfrm>
            <a:off x="255905" y="3664989"/>
            <a:ext cx="11731752"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9748" y="3710985"/>
            <a:ext cx="11585448" cy="201168"/>
          </a:xfrm>
          <a:prstGeom prst="rect">
            <a:avLst/>
          </a:prstGeom>
          <a:noFill/>
        </p:spPr>
        <p:txBody>
          <a:bodyPr wrap="square">
            <a:spAutoFit/>
          </a:bodyPr>
          <a:lstStyle/>
          <a:p>
            <a:pPr algn="l"/>
            <a:r>
              <a:rPr sz="900" b="1" dirty="0">
                <a:solidFill>
                  <a:srgbClr val="555566"/>
                </a:solidFill>
                <a:latin typeface="Segoe UI"/>
              </a:rPr>
              <a:t>TWO WAYS TO USE IT</a:t>
            </a:r>
          </a:p>
        </p:txBody>
      </p:sp>
      <p:graphicFrame>
        <p:nvGraphicFramePr>
          <p:cNvPr id="16" name="Table 15"/>
          <p:cNvGraphicFramePr>
            <a:graphicFrameLocks noGrp="1"/>
          </p:cNvGraphicFramePr>
          <p:nvPr>
            <p:extLst>
              <p:ext uri="{D42A27DB-BD31-4B8C-83A1-F6EECF244321}">
                <p14:modId xmlns:p14="http://schemas.microsoft.com/office/powerpoint/2010/main" val="3786810736"/>
              </p:ext>
            </p:extLst>
          </p:nvPr>
        </p:nvGraphicFramePr>
        <p:xfrm>
          <a:off x="228600" y="4097991"/>
          <a:ext cx="11521440" cy="1962912"/>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84048">
                <a:tc>
                  <a:txBody>
                    <a:bodyPr/>
                    <a:lstStyle/>
                    <a:p>
                      <a:pPr algn="ctr"/>
                      <a:endParaRPr dirty="0"/>
                    </a:p>
                  </a:txBody>
                  <a:tcPr>
                    <a:solidFill>
                      <a:srgbClr val="003A6E"/>
                    </a:solidFill>
                  </a:tcPr>
                </a:tc>
                <a:tc>
                  <a:txBody>
                    <a:bodyPr/>
                    <a:lstStyle/>
                    <a:p>
                      <a:pPr algn="ctr"/>
                      <a:r>
                        <a:rPr sz="1200" b="1">
                          <a:solidFill>
                            <a:srgbClr val="FFFFFF"/>
                          </a:solidFill>
                          <a:latin typeface="Segoe UI"/>
                        </a:rPr>
                        <a:t>Genesys Cloud (production)</a:t>
                      </a:r>
                    </a:p>
                  </a:txBody>
                  <a:tcPr>
                    <a:solidFill>
                      <a:srgbClr val="003A6E"/>
                    </a:solidFill>
                  </a:tcPr>
                </a:tc>
                <a:tc>
                  <a:txBody>
                    <a:bodyPr/>
                    <a:lstStyle/>
                    <a:p>
                      <a:pPr algn="ctr"/>
                      <a:r>
                        <a:rPr sz="1200" b="1">
                          <a:solidFill>
                            <a:srgbClr val="FFFFFF"/>
                          </a:solidFill>
                          <a:latin typeface="Segoe UI"/>
                        </a:rPr>
                        <a:t>Genesys Simulator (local dev / demo)</a:t>
                      </a:r>
                    </a:p>
                  </a:txBody>
                  <a:tcPr>
                    <a:solidFill>
                      <a:srgbClr val="003A6E"/>
                    </a:solidFill>
                  </a:tcPr>
                </a:tc>
                <a:tc>
                  <a:txBody>
                    <a:bodyPr/>
                    <a:lstStyle/>
                    <a:p>
                      <a:pPr algn="ctr"/>
                      <a:r>
                        <a:rPr sz="1200" b="1">
                          <a:solidFill>
                            <a:srgbClr val="FFFFFF"/>
                          </a:solidFill>
                          <a:latin typeface="Segoe UI"/>
                        </a:rPr>
                        <a:t>ACS / Browser (legacy)</a:t>
                      </a:r>
                    </a:p>
                  </a:txBody>
                  <a:tcPr>
                    <a:solidFill>
                      <a:srgbClr val="003A6E"/>
                    </a:solidFill>
                  </a:tcPr>
                </a:tc>
                <a:extLst>
                  <a:ext uri="{0D108BD9-81ED-4DB2-BD59-A6C34878D82A}">
                    <a16:rowId xmlns:a16="http://schemas.microsoft.com/office/drawing/2014/main" val="10000"/>
                  </a:ext>
                </a:extLst>
              </a:tr>
              <a:tr h="384048">
                <a:tc>
                  <a:txBody>
                    <a:bodyPr/>
                    <a:lstStyle/>
                    <a:p>
                      <a:pPr algn="l"/>
                      <a:r>
                        <a:rPr sz="1100">
                          <a:solidFill>
                            <a:srgbClr val="1A1A2E"/>
                          </a:solidFill>
                          <a:latin typeface="Segoe UI"/>
                        </a:rPr>
                        <a:t>Caller connects via</a:t>
                      </a:r>
                    </a:p>
                  </a:txBody>
                  <a:tcPr>
                    <a:solidFill>
                      <a:srgbClr val="FFFFFF"/>
                    </a:solidFill>
                  </a:tcPr>
                </a:tc>
                <a:tc>
                  <a:txBody>
                    <a:bodyPr/>
                    <a:lstStyle/>
                    <a:p>
                      <a:pPr algn="l"/>
                      <a:r>
                        <a:rPr sz="1100">
                          <a:solidFill>
                            <a:srgbClr val="1A1A2E"/>
                          </a:solidFill>
                          <a:latin typeface="Segoe UI"/>
                        </a:rPr>
                        <a:t>Real phone call through Genesys PSTN</a:t>
                      </a:r>
                    </a:p>
                  </a:txBody>
                  <a:tcPr>
                    <a:solidFill>
                      <a:srgbClr val="FFFFFF"/>
                    </a:solidFill>
                  </a:tcPr>
                </a:tc>
                <a:tc>
                  <a:txBody>
                    <a:bodyPr/>
                    <a:lstStyle/>
                    <a:p>
                      <a:pPr algn="l"/>
                      <a:r>
                        <a:rPr sz="1100">
                          <a:solidFill>
                            <a:srgbClr val="1A1A2E"/>
                          </a:solidFill>
                          <a:latin typeface="Segoe UI"/>
                        </a:rPr>
                        <a:t>Browser microphone — no phone needed</a:t>
                      </a:r>
                    </a:p>
                  </a:txBody>
                  <a:tcPr>
                    <a:solidFill>
                      <a:srgbClr val="FFFFFF"/>
                    </a:solidFill>
                  </a:tcPr>
                </a:tc>
                <a:tc>
                  <a:txBody>
                    <a:bodyPr/>
                    <a:lstStyle/>
                    <a:p>
                      <a:pPr algn="l"/>
                      <a:r>
                        <a:rPr sz="1100">
                          <a:solidFill>
                            <a:srgbClr val="1A1A2E"/>
                          </a:solidFill>
                          <a:latin typeface="Segoe UI"/>
                        </a:rPr>
                        <a:t>Browser WebSocket directly to the app</a:t>
                      </a:r>
                    </a:p>
                  </a:txBody>
                  <a:tcPr>
                    <a:solidFill>
                      <a:srgbClr val="FFFFFF"/>
                    </a:solidFill>
                  </a:tcPr>
                </a:tc>
                <a:extLst>
                  <a:ext uri="{0D108BD9-81ED-4DB2-BD59-A6C34878D82A}">
                    <a16:rowId xmlns:a16="http://schemas.microsoft.com/office/drawing/2014/main" val="10001"/>
                  </a:ext>
                </a:extLst>
              </a:tr>
              <a:tr h="384048">
                <a:tc>
                  <a:txBody>
                    <a:bodyPr/>
                    <a:lstStyle/>
                    <a:p>
                      <a:pPr algn="l"/>
                      <a:r>
                        <a:rPr sz="1100">
                          <a:solidFill>
                            <a:srgbClr val="1A1A2E"/>
                          </a:solidFill>
                          <a:latin typeface="Segoe UI"/>
                        </a:rPr>
                        <a:t>Requires Genesys account</a:t>
                      </a:r>
                    </a:p>
                  </a:txBody>
                  <a:tcPr>
                    <a:solidFill>
                      <a:srgbClr val="EDEEF8"/>
                    </a:solidFill>
                  </a:tcPr>
                </a:tc>
                <a:tc>
                  <a:txBody>
                    <a:bodyPr/>
                    <a:lstStyle/>
                    <a:p>
                      <a:pPr algn="l"/>
                      <a:r>
                        <a:rPr sz="1100">
                          <a:solidFill>
                            <a:srgbClr val="1A1A2E"/>
                          </a:solidFill>
                          <a:latin typeface="Segoe UI"/>
                        </a:rPr>
                        <a:t>Yes — AudioHook integration + Architect flow</a:t>
                      </a:r>
                    </a:p>
                  </a:txBody>
                  <a:tcPr>
                    <a:solidFill>
                      <a:srgbClr val="EDEEF8"/>
                    </a:solidFill>
                  </a:tcPr>
                </a:tc>
                <a:tc>
                  <a:txBody>
                    <a:bodyPr/>
                    <a:lstStyle/>
                    <a:p>
                      <a:pPr algn="l"/>
                      <a:r>
                        <a:rPr sz="1100">
                          <a:solidFill>
                            <a:srgbClr val="1A1A2E"/>
                          </a:solidFill>
                          <a:latin typeface="Segoe UI"/>
                        </a:rPr>
                        <a:t>No — works with dotnet run only</a:t>
                      </a:r>
                    </a:p>
                  </a:txBody>
                  <a:tcPr>
                    <a:solidFill>
                      <a:srgbClr val="EDEEF8"/>
                    </a:solidFill>
                  </a:tcPr>
                </a:tc>
                <a:tc>
                  <a:txBody>
                    <a:bodyPr/>
                    <a:lstStyle/>
                    <a:p>
                      <a:pPr algn="l"/>
                      <a:r>
                        <a:rPr sz="1100">
                          <a:solidFill>
                            <a:srgbClr val="1A1A2E"/>
                          </a:solidFill>
                          <a:latin typeface="Segoe UI"/>
                        </a:rPr>
                        <a:t>No</a:t>
                      </a:r>
                    </a:p>
                  </a:txBody>
                  <a:tcPr>
                    <a:solidFill>
                      <a:srgbClr val="EDEEF8"/>
                    </a:solidFill>
                  </a:tcPr>
                </a:tc>
                <a:extLst>
                  <a:ext uri="{0D108BD9-81ED-4DB2-BD59-A6C34878D82A}">
                    <a16:rowId xmlns:a16="http://schemas.microsoft.com/office/drawing/2014/main" val="10002"/>
                  </a:ext>
                </a:extLst>
              </a:tr>
              <a:tr h="384048">
                <a:tc>
                  <a:txBody>
                    <a:bodyPr/>
                    <a:lstStyle/>
                    <a:p>
                      <a:pPr algn="l"/>
                      <a:r>
                        <a:rPr sz="1100">
                          <a:solidFill>
                            <a:srgbClr val="1A1A2E"/>
                          </a:solidFill>
                          <a:latin typeface="Segoe UI"/>
                        </a:rPr>
                        <a:t>Azure services needed</a:t>
                      </a:r>
                    </a:p>
                  </a:txBody>
                  <a:tcPr>
                    <a:solidFill>
                      <a:srgbClr val="FFFFFF"/>
                    </a:solidFill>
                  </a:tcPr>
                </a:tc>
                <a:tc>
                  <a:txBody>
                    <a:bodyPr/>
                    <a:lstStyle/>
                    <a:p>
                      <a:pPr algn="l"/>
                      <a:r>
                        <a:rPr sz="1100">
                          <a:solidFill>
                            <a:srgbClr val="1A1A2E"/>
                          </a:solidFill>
                          <a:latin typeface="Segoe UI"/>
                        </a:rPr>
                        <a:t>Azure AI Speech only</a:t>
                      </a:r>
                    </a:p>
                  </a:txBody>
                  <a:tcPr>
                    <a:solidFill>
                      <a:srgbClr val="FFFFFF"/>
                    </a:solidFill>
                  </a:tcPr>
                </a:tc>
                <a:tc>
                  <a:txBody>
                    <a:bodyPr/>
                    <a:lstStyle/>
                    <a:p>
                      <a:pPr algn="l"/>
                      <a:r>
                        <a:rPr sz="1100">
                          <a:solidFill>
                            <a:srgbClr val="1A1A2E"/>
                          </a:solidFill>
                          <a:latin typeface="Segoe UI"/>
                        </a:rPr>
                        <a:t>Azure AI Speech only</a:t>
                      </a:r>
                    </a:p>
                  </a:txBody>
                  <a:tcPr>
                    <a:solidFill>
                      <a:srgbClr val="FFFFFF"/>
                    </a:solidFill>
                  </a:tcPr>
                </a:tc>
                <a:tc>
                  <a:txBody>
                    <a:bodyPr/>
                    <a:lstStyle/>
                    <a:p>
                      <a:pPr algn="l"/>
                      <a:r>
                        <a:rPr sz="1100">
                          <a:solidFill>
                            <a:srgbClr val="1A1A2E"/>
                          </a:solidFill>
                          <a:latin typeface="Segoe UI"/>
                        </a:rPr>
                        <a:t>Azure AI Speech + ACS phone number + EventGrid</a:t>
                      </a:r>
                    </a:p>
                  </a:txBody>
                  <a:tcPr>
                    <a:solidFill>
                      <a:srgbClr val="FFFFFF"/>
                    </a:solidFill>
                  </a:tcPr>
                </a:tc>
                <a:extLst>
                  <a:ext uri="{0D108BD9-81ED-4DB2-BD59-A6C34878D82A}">
                    <a16:rowId xmlns:a16="http://schemas.microsoft.com/office/drawing/2014/main" val="10003"/>
                  </a:ext>
                </a:extLst>
              </a:tr>
              <a:tr h="384048">
                <a:tc>
                  <a:txBody>
                    <a:bodyPr/>
                    <a:lstStyle/>
                    <a:p>
                      <a:pPr algn="l"/>
                      <a:r>
                        <a:rPr sz="1100" dirty="0">
                          <a:solidFill>
                            <a:srgbClr val="1A1A2E"/>
                          </a:solidFill>
                          <a:latin typeface="Segoe UI"/>
                        </a:rPr>
                        <a:t>Best for</a:t>
                      </a:r>
                    </a:p>
                  </a:txBody>
                  <a:tcPr>
                    <a:solidFill>
                      <a:srgbClr val="EDEEF8"/>
                    </a:solidFill>
                  </a:tcPr>
                </a:tc>
                <a:tc>
                  <a:txBody>
                    <a:bodyPr/>
                    <a:lstStyle/>
                    <a:p>
                      <a:pPr algn="l"/>
                      <a:r>
                        <a:rPr sz="1100">
                          <a:solidFill>
                            <a:srgbClr val="1A1A2E"/>
                          </a:solidFill>
                          <a:latin typeface="Segoe UI"/>
                        </a:rPr>
                        <a:t>Live contact centre deployments</a:t>
                      </a:r>
                    </a:p>
                  </a:txBody>
                  <a:tcPr>
                    <a:solidFill>
                      <a:srgbClr val="EDEEF8"/>
                    </a:solidFill>
                  </a:tcPr>
                </a:tc>
                <a:tc>
                  <a:txBody>
                    <a:bodyPr/>
                    <a:lstStyle/>
                    <a:p>
                      <a:pPr algn="l"/>
                      <a:r>
                        <a:rPr sz="1100">
                          <a:solidFill>
                            <a:srgbClr val="1A1A2E"/>
                          </a:solidFill>
                          <a:latin typeface="Segoe UI"/>
                        </a:rPr>
                        <a:t>Development, testing, demos</a:t>
                      </a:r>
                    </a:p>
                  </a:txBody>
                  <a:tcPr>
                    <a:solidFill>
                      <a:srgbClr val="EDEEF8"/>
                    </a:solidFill>
                  </a:tcPr>
                </a:tc>
                <a:tc>
                  <a:txBody>
                    <a:bodyPr/>
                    <a:lstStyle/>
                    <a:p>
                      <a:pPr algn="l"/>
                      <a:r>
                        <a:rPr sz="1100" dirty="0">
                          <a:solidFill>
                            <a:srgbClr val="1A1A2E"/>
                          </a:solidFill>
                          <a:latin typeface="Segoe UI"/>
                        </a:rPr>
                        <a:t>Standalone browser-to-browser translation</a:t>
                      </a:r>
                    </a:p>
                  </a:txBody>
                  <a:tcPr>
                    <a:solidFill>
                      <a:srgbClr val="EDEEF8"/>
                    </a:solidFill>
                  </a:tcPr>
                </a:tc>
                <a:extLst>
                  <a:ext uri="{0D108BD9-81ED-4DB2-BD59-A6C34878D82A}">
                    <a16:rowId xmlns:a16="http://schemas.microsoft.com/office/drawing/2014/main" val="10004"/>
                  </a:ext>
                </a:extLst>
              </a:tr>
            </a:tbl>
          </a:graphicData>
        </a:graphic>
      </p:graphicFrame>
      <p:sp>
        <p:nvSpPr>
          <p:cNvPr id="17" name="Rectangle 16"/>
          <p:cNvSpPr/>
          <p:nvPr/>
        </p:nvSpPr>
        <p:spPr>
          <a:xfrm>
            <a:off x="228600" y="6309360"/>
            <a:ext cx="11731752" cy="411480"/>
          </a:xfrm>
          <a:prstGeom prst="rect">
            <a:avLst/>
          </a:prstGeom>
          <a:solidFill>
            <a:srgbClr val="FFF0C0"/>
          </a:solidFill>
          <a:ln w="12700">
            <a:solidFill>
              <a:srgbClr val="CC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472" y="6364224"/>
            <a:ext cx="11430000" cy="320040"/>
          </a:xfrm>
          <a:prstGeom prst="rect">
            <a:avLst/>
          </a:prstGeom>
          <a:noFill/>
        </p:spPr>
        <p:txBody>
          <a:bodyPr wrap="square">
            <a:spAutoFit/>
          </a:bodyPr>
          <a:lstStyle/>
          <a:p>
            <a:pPr algn="l"/>
            <a:r>
              <a:rPr sz="1000" b="0" dirty="0">
                <a:solidFill>
                  <a:srgbClr val="1A1A2E"/>
                </a:solidFill>
                <a:latin typeface="Segoe UI"/>
              </a:rPr>
              <a:t>ⓘ  All translation is performed by Azure AI Speech — one Azure resource handles STT, translation, and TTS in a single SDK call.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60120"/>
          </a:xfrm>
          <a:prstGeom prst="rect">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 cy="9601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91440"/>
            <a:ext cx="11704320" cy="548640"/>
          </a:xfrm>
          <a:prstGeom prst="rect">
            <a:avLst/>
          </a:prstGeom>
          <a:noFill/>
        </p:spPr>
        <p:txBody>
          <a:bodyPr wrap="square">
            <a:spAutoFit/>
          </a:bodyPr>
          <a:lstStyle/>
          <a:p>
            <a:pPr algn="l"/>
            <a:r>
              <a:rPr sz="2600" b="1">
                <a:solidFill>
                  <a:srgbClr val="FFFFFF"/>
                </a:solidFill>
                <a:latin typeface="Segoe UI"/>
              </a:rPr>
              <a:t>Genesys AudioHook v2 — End-to-End Flow</a:t>
            </a:r>
          </a:p>
        </p:txBody>
      </p:sp>
      <p:sp>
        <p:nvSpPr>
          <p:cNvPr id="6" name="TextBox 5"/>
          <p:cNvSpPr txBox="1"/>
          <p:nvPr/>
        </p:nvSpPr>
        <p:spPr>
          <a:xfrm>
            <a:off x="182880" y="621792"/>
            <a:ext cx="11704320" cy="301752"/>
          </a:xfrm>
          <a:prstGeom prst="rect">
            <a:avLst/>
          </a:prstGeom>
          <a:noFill/>
        </p:spPr>
        <p:txBody>
          <a:bodyPr wrap="square">
            <a:spAutoFit/>
          </a:bodyPr>
          <a:lstStyle/>
          <a:p>
            <a:pPr algn="l"/>
            <a:r>
              <a:rPr sz="1200" b="0">
                <a:solidFill>
                  <a:srgbClr val="BBCCFF"/>
                </a:solidFill>
                <a:latin typeface="Segoe UI"/>
              </a:rPr>
              <a:t>How a real phone call travels from caller to agent through Live Call Translation</a:t>
            </a:r>
          </a:p>
        </p:txBody>
      </p:sp>
      <p:sp>
        <p:nvSpPr>
          <p:cNvPr id="7" name="Rounded Rectangle 6"/>
          <p:cNvSpPr/>
          <p:nvPr/>
        </p:nvSpPr>
        <p:spPr>
          <a:xfrm>
            <a:off x="493776" y="1024128"/>
            <a:ext cx="2560320" cy="658368"/>
          </a:xfrm>
          <a:prstGeom prst="roundRect">
            <a:avLst>
              <a:gd name="adj" fmla="val 8000"/>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060704"/>
            <a:ext cx="2414015" cy="329184"/>
          </a:xfrm>
          <a:prstGeom prst="rect">
            <a:avLst/>
          </a:prstGeom>
          <a:noFill/>
        </p:spPr>
        <p:txBody>
          <a:bodyPr wrap="square">
            <a:spAutoFit/>
          </a:bodyPr>
          <a:lstStyle/>
          <a:p>
            <a:pPr algn="ctr"/>
            <a:r>
              <a:rPr sz="1100" b="1">
                <a:solidFill>
                  <a:srgbClr val="FFFFFF"/>
                </a:solidFill>
                <a:latin typeface="Segoe UI"/>
              </a:rPr>
              <a:t>1. Phone Caller</a:t>
            </a:r>
          </a:p>
        </p:txBody>
      </p:sp>
      <p:sp>
        <p:nvSpPr>
          <p:cNvPr id="9" name="TextBox 8"/>
          <p:cNvSpPr txBox="1"/>
          <p:nvPr/>
        </p:nvSpPr>
        <p:spPr>
          <a:xfrm>
            <a:off x="566928" y="1289165"/>
            <a:ext cx="2414015" cy="274320"/>
          </a:xfrm>
          <a:prstGeom prst="rect">
            <a:avLst/>
          </a:prstGeom>
          <a:noFill/>
        </p:spPr>
        <p:txBody>
          <a:bodyPr wrap="square">
            <a:spAutoFit/>
          </a:bodyPr>
          <a:lstStyle/>
          <a:p>
            <a:pPr algn="ctr"/>
            <a:r>
              <a:rPr sz="900" b="0">
                <a:solidFill>
                  <a:srgbClr val="DDDDFF"/>
                </a:solidFill>
                <a:latin typeface="Segoe UI"/>
              </a:rPr>
              <a:t>Dials Genesys
queue number</a:t>
            </a:r>
          </a:p>
        </p:txBody>
      </p:sp>
      <p:sp>
        <p:nvSpPr>
          <p:cNvPr id="10" name="TextBox 9"/>
          <p:cNvSpPr txBox="1"/>
          <p:nvPr/>
        </p:nvSpPr>
        <p:spPr>
          <a:xfrm>
            <a:off x="3090672" y="1207008"/>
            <a:ext cx="201168" cy="274320"/>
          </a:xfrm>
          <a:prstGeom prst="rect">
            <a:avLst/>
          </a:prstGeom>
          <a:noFill/>
        </p:spPr>
        <p:txBody>
          <a:bodyPr wrap="square">
            <a:spAutoFit/>
          </a:bodyPr>
          <a:lstStyle/>
          <a:p>
            <a:pPr algn="ctr"/>
            <a:r>
              <a:rPr sz="1600" b="1">
                <a:solidFill>
                  <a:srgbClr val="555566"/>
                </a:solidFill>
                <a:latin typeface="Segoe UI"/>
              </a:rPr>
              <a:t>►</a:t>
            </a:r>
          </a:p>
        </p:txBody>
      </p:sp>
      <p:sp>
        <p:nvSpPr>
          <p:cNvPr id="11" name="Rounded Rectangle 10"/>
          <p:cNvSpPr/>
          <p:nvPr/>
        </p:nvSpPr>
        <p:spPr>
          <a:xfrm>
            <a:off x="3374136" y="1024128"/>
            <a:ext cx="2560320" cy="658368"/>
          </a:xfrm>
          <a:prstGeom prst="roundRect">
            <a:avLst>
              <a:gd name="adj" fmla="val 8000"/>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47288" y="1060704"/>
            <a:ext cx="2414015" cy="329184"/>
          </a:xfrm>
          <a:prstGeom prst="rect">
            <a:avLst/>
          </a:prstGeom>
          <a:noFill/>
        </p:spPr>
        <p:txBody>
          <a:bodyPr wrap="square">
            <a:spAutoFit/>
          </a:bodyPr>
          <a:lstStyle/>
          <a:p>
            <a:pPr algn="ctr"/>
            <a:r>
              <a:rPr sz="1100" b="1">
                <a:solidFill>
                  <a:srgbClr val="FFFFFF"/>
                </a:solidFill>
                <a:latin typeface="Segoe UI"/>
              </a:rPr>
              <a:t>2. Genesys Cloud</a:t>
            </a:r>
          </a:p>
        </p:txBody>
      </p:sp>
      <p:sp>
        <p:nvSpPr>
          <p:cNvPr id="13" name="TextBox 12"/>
          <p:cNvSpPr txBox="1"/>
          <p:nvPr/>
        </p:nvSpPr>
        <p:spPr>
          <a:xfrm>
            <a:off x="3447288" y="1289165"/>
            <a:ext cx="2414015" cy="274320"/>
          </a:xfrm>
          <a:prstGeom prst="rect">
            <a:avLst/>
          </a:prstGeom>
          <a:noFill/>
        </p:spPr>
        <p:txBody>
          <a:bodyPr wrap="square">
            <a:spAutoFit/>
          </a:bodyPr>
          <a:lstStyle/>
          <a:p>
            <a:pPr algn="ctr"/>
            <a:r>
              <a:rPr sz="900" b="0" dirty="0">
                <a:solidFill>
                  <a:srgbClr val="DDDDFF"/>
                </a:solidFill>
                <a:latin typeface="Segoe UI"/>
              </a:rPr>
              <a:t>Architect flow fires
</a:t>
            </a:r>
            <a:r>
              <a:rPr sz="900" b="0" dirty="0" err="1">
                <a:solidFill>
                  <a:srgbClr val="DDDDFF"/>
                </a:solidFill>
                <a:latin typeface="Segoe UI"/>
              </a:rPr>
              <a:t>AudioHook</a:t>
            </a:r>
            <a:r>
              <a:rPr sz="900" b="0" dirty="0">
                <a:solidFill>
                  <a:srgbClr val="DDDDFF"/>
                </a:solidFill>
                <a:latin typeface="Segoe UI"/>
              </a:rPr>
              <a:t> action</a:t>
            </a:r>
          </a:p>
        </p:txBody>
      </p:sp>
      <p:sp>
        <p:nvSpPr>
          <p:cNvPr id="14" name="TextBox 13"/>
          <p:cNvSpPr txBox="1"/>
          <p:nvPr/>
        </p:nvSpPr>
        <p:spPr>
          <a:xfrm>
            <a:off x="5971032" y="1207008"/>
            <a:ext cx="201168" cy="274320"/>
          </a:xfrm>
          <a:prstGeom prst="rect">
            <a:avLst/>
          </a:prstGeom>
          <a:noFill/>
        </p:spPr>
        <p:txBody>
          <a:bodyPr wrap="square">
            <a:spAutoFit/>
          </a:bodyPr>
          <a:lstStyle/>
          <a:p>
            <a:pPr algn="ctr"/>
            <a:r>
              <a:rPr sz="1600" b="1">
                <a:solidFill>
                  <a:srgbClr val="555566"/>
                </a:solidFill>
                <a:latin typeface="Segoe UI"/>
              </a:rPr>
              <a:t>►</a:t>
            </a:r>
          </a:p>
        </p:txBody>
      </p:sp>
      <p:sp>
        <p:nvSpPr>
          <p:cNvPr id="15" name="Rounded Rectangle 14"/>
          <p:cNvSpPr/>
          <p:nvPr/>
        </p:nvSpPr>
        <p:spPr>
          <a:xfrm>
            <a:off x="6254496" y="1024128"/>
            <a:ext cx="2560320" cy="658368"/>
          </a:xfrm>
          <a:prstGeom prst="roundRect">
            <a:avLst>
              <a:gd name="adj" fmla="val 8000"/>
            </a:avLst>
          </a:prstGeom>
          <a:solidFill>
            <a:srgbClr val="00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27648" y="1060704"/>
            <a:ext cx="2414015" cy="261610"/>
          </a:xfrm>
          <a:prstGeom prst="rect">
            <a:avLst/>
          </a:prstGeom>
          <a:noFill/>
        </p:spPr>
        <p:txBody>
          <a:bodyPr wrap="square">
            <a:spAutoFit/>
          </a:bodyPr>
          <a:lstStyle/>
          <a:p>
            <a:pPr algn="ctr"/>
            <a:r>
              <a:rPr sz="1100" b="1" dirty="0">
                <a:solidFill>
                  <a:srgbClr val="FFFFFF"/>
                </a:solidFill>
                <a:latin typeface="Segoe UI"/>
              </a:rPr>
              <a:t>3. </a:t>
            </a:r>
            <a:r>
              <a:rPr lang="en-US" sz="1100" b="1" dirty="0">
                <a:solidFill>
                  <a:srgbClr val="FFFFFF"/>
                </a:solidFill>
                <a:latin typeface="Segoe UI"/>
              </a:rPr>
              <a:t>Azure </a:t>
            </a:r>
            <a:r>
              <a:rPr sz="1100" b="1" dirty="0">
                <a:solidFill>
                  <a:srgbClr val="FFFFFF"/>
                </a:solidFill>
                <a:latin typeface="Segoe UI"/>
              </a:rPr>
              <a:t>Application</a:t>
            </a:r>
          </a:p>
        </p:txBody>
      </p:sp>
      <p:sp>
        <p:nvSpPr>
          <p:cNvPr id="17" name="TextBox 16"/>
          <p:cNvSpPr txBox="1"/>
          <p:nvPr/>
        </p:nvSpPr>
        <p:spPr>
          <a:xfrm>
            <a:off x="6327648" y="1261641"/>
            <a:ext cx="2414015" cy="274320"/>
          </a:xfrm>
          <a:prstGeom prst="rect">
            <a:avLst/>
          </a:prstGeom>
          <a:noFill/>
        </p:spPr>
        <p:txBody>
          <a:bodyPr wrap="square">
            <a:spAutoFit/>
          </a:bodyPr>
          <a:lstStyle/>
          <a:p>
            <a:pPr algn="ctr"/>
            <a:r>
              <a:rPr sz="900" b="0" dirty="0">
                <a:solidFill>
                  <a:srgbClr val="DDDDFF"/>
                </a:solidFill>
                <a:latin typeface="Segoe UI"/>
              </a:rPr>
              <a:t>wss://app/ws/genesys
</a:t>
            </a:r>
            <a:r>
              <a:rPr sz="900" b="0" dirty="0" err="1">
                <a:solidFill>
                  <a:srgbClr val="DDDDFF"/>
                </a:solidFill>
                <a:latin typeface="Segoe UI"/>
              </a:rPr>
              <a:t>GenesysWebSocketHandler</a:t>
            </a:r>
            <a:endParaRPr sz="900" b="0" dirty="0">
              <a:solidFill>
                <a:srgbClr val="DDDDFF"/>
              </a:solidFill>
              <a:latin typeface="Segoe UI"/>
            </a:endParaRPr>
          </a:p>
        </p:txBody>
      </p:sp>
      <p:sp>
        <p:nvSpPr>
          <p:cNvPr id="18" name="TextBox 17"/>
          <p:cNvSpPr txBox="1"/>
          <p:nvPr/>
        </p:nvSpPr>
        <p:spPr>
          <a:xfrm>
            <a:off x="8851392" y="1207008"/>
            <a:ext cx="201168" cy="274320"/>
          </a:xfrm>
          <a:prstGeom prst="rect">
            <a:avLst/>
          </a:prstGeom>
          <a:noFill/>
        </p:spPr>
        <p:txBody>
          <a:bodyPr wrap="square">
            <a:spAutoFit/>
          </a:bodyPr>
          <a:lstStyle/>
          <a:p>
            <a:pPr algn="ctr"/>
            <a:r>
              <a:rPr sz="1600" b="1">
                <a:solidFill>
                  <a:srgbClr val="555566"/>
                </a:solidFill>
                <a:latin typeface="Segoe UI"/>
              </a:rPr>
              <a:t>►</a:t>
            </a:r>
          </a:p>
        </p:txBody>
      </p:sp>
      <p:sp>
        <p:nvSpPr>
          <p:cNvPr id="19" name="Rounded Rectangle 18"/>
          <p:cNvSpPr/>
          <p:nvPr/>
        </p:nvSpPr>
        <p:spPr>
          <a:xfrm>
            <a:off x="9134855" y="1024128"/>
            <a:ext cx="2560320" cy="658368"/>
          </a:xfrm>
          <a:prstGeom prst="roundRect">
            <a:avLst>
              <a:gd name="adj" fmla="val 8000"/>
            </a:avLst>
          </a:prstGeom>
          <a:solidFill>
            <a:srgbClr val="00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08007" y="1060704"/>
            <a:ext cx="2414015" cy="329184"/>
          </a:xfrm>
          <a:prstGeom prst="rect">
            <a:avLst/>
          </a:prstGeom>
          <a:noFill/>
        </p:spPr>
        <p:txBody>
          <a:bodyPr wrap="square">
            <a:spAutoFit/>
          </a:bodyPr>
          <a:lstStyle/>
          <a:p>
            <a:pPr algn="ctr"/>
            <a:r>
              <a:rPr sz="1100" b="1">
                <a:solidFill>
                  <a:srgbClr val="FFFFFF"/>
                </a:solidFill>
                <a:latin typeface="Segoe UI"/>
              </a:rPr>
              <a:t>4. Agent Browser</a:t>
            </a:r>
          </a:p>
        </p:txBody>
      </p:sp>
      <p:sp>
        <p:nvSpPr>
          <p:cNvPr id="21" name="TextBox 20"/>
          <p:cNvSpPr txBox="1"/>
          <p:nvPr/>
        </p:nvSpPr>
        <p:spPr>
          <a:xfrm>
            <a:off x="9208007" y="1261641"/>
            <a:ext cx="2414015" cy="274320"/>
          </a:xfrm>
          <a:prstGeom prst="rect">
            <a:avLst/>
          </a:prstGeom>
          <a:noFill/>
        </p:spPr>
        <p:txBody>
          <a:bodyPr wrap="square">
            <a:spAutoFit/>
          </a:bodyPr>
          <a:lstStyle/>
          <a:p>
            <a:pPr algn="ctr"/>
            <a:r>
              <a:rPr sz="900" b="0" dirty="0">
                <a:solidFill>
                  <a:srgbClr val="DDDDFF"/>
                </a:solidFill>
                <a:latin typeface="Segoe UI"/>
              </a:rPr>
              <a:t>/agent/
Hears translated audio</a:t>
            </a:r>
          </a:p>
        </p:txBody>
      </p:sp>
      <p:sp>
        <p:nvSpPr>
          <p:cNvPr id="22" name="Rectangle 21"/>
          <p:cNvSpPr/>
          <p:nvPr/>
        </p:nvSpPr>
        <p:spPr>
          <a:xfrm>
            <a:off x="228600" y="1920240"/>
            <a:ext cx="1170432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1752" y="1956816"/>
            <a:ext cx="11558016" cy="201168"/>
          </a:xfrm>
          <a:prstGeom prst="rect">
            <a:avLst/>
          </a:prstGeom>
          <a:noFill/>
        </p:spPr>
        <p:txBody>
          <a:bodyPr wrap="square">
            <a:spAutoFit/>
          </a:bodyPr>
          <a:lstStyle/>
          <a:p>
            <a:pPr algn="l"/>
            <a:r>
              <a:rPr sz="900" b="1">
                <a:solidFill>
                  <a:srgbClr val="555566"/>
                </a:solidFill>
                <a:latin typeface="Segoe UI"/>
              </a:rPr>
              <a:t>WHAT HAPPENS INSIDE THE APPLICATION</a:t>
            </a:r>
          </a:p>
        </p:txBody>
      </p:sp>
      <p:sp>
        <p:nvSpPr>
          <p:cNvPr id="24" name="TextBox 23"/>
          <p:cNvSpPr txBox="1"/>
          <p:nvPr/>
        </p:nvSpPr>
        <p:spPr>
          <a:xfrm>
            <a:off x="228600" y="2240280"/>
            <a:ext cx="11731752" cy="1463040"/>
          </a:xfrm>
          <a:prstGeom prst="rect">
            <a:avLst/>
          </a:prstGeom>
          <a:noFill/>
        </p:spPr>
        <p:txBody>
          <a:bodyPr wrap="square">
            <a:spAutoFit/>
          </a:bodyPr>
          <a:lstStyle/>
          <a:p>
            <a:pPr>
              <a:spcBef>
                <a:spcPts val="500"/>
              </a:spcBef>
            </a:pPr>
            <a:r>
              <a:rPr sz="1200" b="0" dirty="0">
                <a:solidFill>
                  <a:srgbClr val="1A1A2E"/>
                </a:solidFill>
                <a:latin typeface="Segoe UI"/>
              </a:rPr>
              <a:t>Caller audio arrives from Genesys as µ-law 8kHz binary WebSocket frames</a:t>
            </a:r>
          </a:p>
          <a:p>
            <a:pPr>
              <a:spcBef>
                <a:spcPts val="500"/>
              </a:spcBef>
            </a:pPr>
            <a:r>
              <a:rPr sz="1200" b="0" dirty="0" err="1">
                <a:solidFill>
                  <a:srgbClr val="1A1A2E"/>
                </a:solidFill>
                <a:latin typeface="Segoe UI"/>
              </a:rPr>
              <a:t>MuLawConverter</a:t>
            </a:r>
            <a:r>
              <a:rPr sz="1200" b="0" dirty="0">
                <a:solidFill>
                  <a:srgbClr val="1A1A2E"/>
                </a:solidFill>
                <a:latin typeface="Segoe UI"/>
              </a:rPr>
              <a:t> decodes µ-law → PCM 16kHz  (Azure AI Speech requires 16kHz)</a:t>
            </a:r>
          </a:p>
          <a:p>
            <a:pPr>
              <a:spcBef>
                <a:spcPts val="500"/>
              </a:spcBef>
            </a:pPr>
            <a:r>
              <a:rPr sz="1200" b="0" dirty="0">
                <a:solidFill>
                  <a:srgbClr val="1A1A2E"/>
                </a:solidFill>
                <a:latin typeface="Segoe UI"/>
              </a:rPr>
              <a:t>Azure AI Speech pipeline runs in two directions simultaneously:</a:t>
            </a:r>
          </a:p>
          <a:p>
            <a:pPr lvl="1">
              <a:spcBef>
                <a:spcPts val="200"/>
              </a:spcBef>
            </a:pPr>
            <a:r>
              <a:rPr sz="1100" b="0" dirty="0">
                <a:solidFill>
                  <a:srgbClr val="555566"/>
                </a:solidFill>
                <a:latin typeface="Segoe UI"/>
              </a:rPr>
              <a:t>Caller → Agent:   STT (caller's language)  →  Translate  →  TTS (agent's language)  →  </a:t>
            </a:r>
            <a:r>
              <a:rPr sz="1100" b="0" dirty="0" err="1">
                <a:solidFill>
                  <a:srgbClr val="555566"/>
                </a:solidFill>
                <a:latin typeface="Segoe UI"/>
              </a:rPr>
              <a:t>DynamicMixer</a:t>
            </a:r>
            <a:r>
              <a:rPr sz="1100" b="0" dirty="0">
                <a:solidFill>
                  <a:srgbClr val="555566"/>
                </a:solidFill>
                <a:latin typeface="Segoe UI"/>
              </a:rPr>
              <a:t>  →  Agent browser</a:t>
            </a:r>
          </a:p>
          <a:p>
            <a:pPr lvl="1">
              <a:spcBef>
                <a:spcPts val="200"/>
              </a:spcBef>
            </a:pPr>
            <a:r>
              <a:rPr sz="1100" b="0" dirty="0">
                <a:solidFill>
                  <a:srgbClr val="555566"/>
                </a:solidFill>
                <a:latin typeface="Segoe UI"/>
              </a:rPr>
              <a:t>Agent → Caller:   STT (agent's language)   →  Translate  →  TTS (caller's language)  →  PCM → µ-law  →  Genesys WebSocket  →  Caller's phone</a:t>
            </a:r>
          </a:p>
          <a:p>
            <a:pPr>
              <a:spcBef>
                <a:spcPts val="500"/>
              </a:spcBef>
            </a:pPr>
            <a:r>
              <a:rPr sz="1200" b="0" dirty="0">
                <a:solidFill>
                  <a:srgbClr val="1A1A2E"/>
                </a:solidFill>
                <a:latin typeface="Segoe UI"/>
              </a:rPr>
              <a:t>Agent sees live transcription (original + translated) in the browser UI</a:t>
            </a:r>
          </a:p>
        </p:txBody>
      </p:sp>
      <p:sp>
        <p:nvSpPr>
          <p:cNvPr id="25" name="Rectangle 24"/>
          <p:cNvSpPr/>
          <p:nvPr/>
        </p:nvSpPr>
        <p:spPr>
          <a:xfrm>
            <a:off x="228600" y="3767328"/>
            <a:ext cx="1170432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01752" y="3803904"/>
            <a:ext cx="11558016" cy="201168"/>
          </a:xfrm>
          <a:prstGeom prst="rect">
            <a:avLst/>
          </a:prstGeom>
          <a:noFill/>
        </p:spPr>
        <p:txBody>
          <a:bodyPr wrap="square">
            <a:spAutoFit/>
          </a:bodyPr>
          <a:lstStyle/>
          <a:p>
            <a:pPr algn="l"/>
            <a:r>
              <a:rPr sz="900" b="1">
                <a:solidFill>
                  <a:srgbClr val="555566"/>
                </a:solidFill>
                <a:latin typeface="Segoe UI"/>
              </a:rPr>
              <a:t>AUDIOHOOK V2 PROTOCOL — KEY FACTS</a:t>
            </a:r>
          </a:p>
        </p:txBody>
      </p:sp>
      <p:sp>
        <p:nvSpPr>
          <p:cNvPr id="27" name="TextBox 26"/>
          <p:cNvSpPr txBox="1"/>
          <p:nvPr/>
        </p:nvSpPr>
        <p:spPr>
          <a:xfrm>
            <a:off x="228600" y="4087368"/>
            <a:ext cx="11731752" cy="1645920"/>
          </a:xfrm>
          <a:prstGeom prst="rect">
            <a:avLst/>
          </a:prstGeom>
          <a:noFill/>
        </p:spPr>
        <p:txBody>
          <a:bodyPr wrap="square">
            <a:spAutoFit/>
          </a:bodyPr>
          <a:lstStyle/>
          <a:p>
            <a:pPr>
              <a:spcBef>
                <a:spcPts val="500"/>
              </a:spcBef>
            </a:pPr>
            <a:r>
              <a:rPr sz="1200" b="0">
                <a:solidFill>
                  <a:srgbClr val="1A1A2E"/>
                </a:solidFill>
                <a:latin typeface="Segoe UI"/>
              </a:rPr>
              <a:t>Genesys initiates the WebSocket — the app never connects to Genesys</a:t>
            </a:r>
          </a:p>
          <a:p>
            <a:pPr>
              <a:spcBef>
                <a:spcPts val="500"/>
              </a:spcBef>
            </a:pPr>
            <a:r>
              <a:rPr sz="1200" b="0">
                <a:solidFill>
                  <a:srgbClr val="1A1A2E"/>
                </a:solidFill>
                <a:latin typeface="Segoe UI"/>
              </a:rPr>
              <a:t>One WebSocket per call, opened when the Architect flow hits the AudioHook action</a:t>
            </a:r>
          </a:p>
          <a:p>
            <a:pPr>
              <a:spcBef>
                <a:spcPts val="500"/>
              </a:spcBef>
            </a:pPr>
            <a:r>
              <a:rPr sz="1200" b="0">
                <a:solidFill>
                  <a:srgbClr val="1A1A2E"/>
                </a:solidFill>
                <a:latin typeface="Segoe UI"/>
              </a:rPr>
              <a:t>Handshake:  Genesys sends  open  →  app responds  opened  →  binary audio begins</a:t>
            </a:r>
          </a:p>
          <a:p>
            <a:pPr>
              <a:spcBef>
                <a:spcPts val="500"/>
              </a:spcBef>
            </a:pPr>
            <a:r>
              <a:rPr sz="1200" b="0">
                <a:solidFill>
                  <a:srgbClr val="1A1A2E"/>
                </a:solidFill>
                <a:latin typeface="Segoe UI"/>
              </a:rPr>
              <a:t>Keepalive:  Genesys sends  ping  every ~15s  →  app must respond  pong  or the connection drops</a:t>
            </a:r>
          </a:p>
          <a:p>
            <a:pPr>
              <a:spcBef>
                <a:spcPts val="500"/>
              </a:spcBef>
            </a:pPr>
            <a:r>
              <a:rPr sz="1200" b="0">
                <a:solidFill>
                  <a:srgbClr val="1A1A2E"/>
                </a:solidFill>
                <a:latin typeface="Segoe UI"/>
              </a:rPr>
              <a:t>Teardown:   Genesys sends  close  →  app responds  closed  →  socket closed</a:t>
            </a:r>
          </a:p>
        </p:txBody>
      </p:sp>
      <p:sp>
        <p:nvSpPr>
          <p:cNvPr id="28" name="Rectangle 27"/>
          <p:cNvSpPr/>
          <p:nvPr/>
        </p:nvSpPr>
        <p:spPr>
          <a:xfrm>
            <a:off x="228600" y="6309360"/>
            <a:ext cx="11731752" cy="411480"/>
          </a:xfrm>
          <a:prstGeom prst="rect">
            <a:avLst/>
          </a:prstGeom>
          <a:solidFill>
            <a:srgbClr val="FFF0C0"/>
          </a:solidFill>
          <a:ln w="12700">
            <a:solidFill>
              <a:srgbClr val="CC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472" y="6364224"/>
            <a:ext cx="11430000" cy="320040"/>
          </a:xfrm>
          <a:prstGeom prst="rect">
            <a:avLst/>
          </a:prstGeom>
          <a:noFill/>
        </p:spPr>
        <p:txBody>
          <a:bodyPr wrap="square">
            <a:spAutoFit/>
          </a:bodyPr>
          <a:lstStyle/>
          <a:p>
            <a:pPr algn="l"/>
            <a:r>
              <a:rPr sz="1000" b="0">
                <a:solidFill>
                  <a:srgbClr val="1A1A2E"/>
                </a:solidFill>
                <a:latin typeface="Segoe UI"/>
              </a:rPr>
              <a:t>ⓘ  Only Azure AI Speech is required on the Azure side — no ACS, no EventGrid, no phone number needed.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60120"/>
          </a:xfrm>
          <a:prstGeom prst="rect">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 cy="9601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91440"/>
            <a:ext cx="11704320" cy="548640"/>
          </a:xfrm>
          <a:prstGeom prst="rect">
            <a:avLst/>
          </a:prstGeom>
          <a:noFill/>
        </p:spPr>
        <p:txBody>
          <a:bodyPr wrap="square">
            <a:spAutoFit/>
          </a:bodyPr>
          <a:lstStyle/>
          <a:p>
            <a:pPr algn="l"/>
            <a:r>
              <a:rPr sz="2600" b="1">
                <a:solidFill>
                  <a:srgbClr val="FFFFFF"/>
                </a:solidFill>
                <a:latin typeface="Segoe UI"/>
              </a:rPr>
              <a:t>Genesys Simulator</a:t>
            </a:r>
          </a:p>
        </p:txBody>
      </p:sp>
      <p:sp>
        <p:nvSpPr>
          <p:cNvPr id="6" name="TextBox 5"/>
          <p:cNvSpPr txBox="1"/>
          <p:nvPr/>
        </p:nvSpPr>
        <p:spPr>
          <a:xfrm>
            <a:off x="182880" y="621792"/>
            <a:ext cx="11704320" cy="301752"/>
          </a:xfrm>
          <a:prstGeom prst="rect">
            <a:avLst/>
          </a:prstGeom>
          <a:noFill/>
        </p:spPr>
        <p:txBody>
          <a:bodyPr wrap="square">
            <a:spAutoFit/>
          </a:bodyPr>
          <a:lstStyle/>
          <a:p>
            <a:pPr algn="l"/>
            <a:r>
              <a:rPr sz="1200" b="0">
                <a:solidFill>
                  <a:srgbClr val="BBCCFF"/>
                </a:solidFill>
                <a:latin typeface="Segoe UI"/>
              </a:rPr>
              <a:t>Test the full AudioHook flow from your browser — no Genesys Cloud account needed</a:t>
            </a:r>
          </a:p>
        </p:txBody>
      </p:sp>
      <p:sp>
        <p:nvSpPr>
          <p:cNvPr id="7" name="Rectangle 6"/>
          <p:cNvSpPr/>
          <p:nvPr/>
        </p:nvSpPr>
        <p:spPr>
          <a:xfrm>
            <a:off x="228600" y="1033271"/>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 y="1069848"/>
            <a:ext cx="5522976" cy="201168"/>
          </a:xfrm>
          <a:prstGeom prst="rect">
            <a:avLst/>
          </a:prstGeom>
          <a:noFill/>
        </p:spPr>
        <p:txBody>
          <a:bodyPr wrap="square">
            <a:spAutoFit/>
          </a:bodyPr>
          <a:lstStyle/>
          <a:p>
            <a:pPr algn="l"/>
            <a:r>
              <a:rPr sz="900" b="1">
                <a:solidFill>
                  <a:srgbClr val="555566"/>
                </a:solidFill>
                <a:latin typeface="Segoe UI"/>
              </a:rPr>
              <a:t>WHAT IT IS</a:t>
            </a:r>
          </a:p>
        </p:txBody>
      </p:sp>
      <p:sp>
        <p:nvSpPr>
          <p:cNvPr id="9" name="TextBox 8"/>
          <p:cNvSpPr txBox="1"/>
          <p:nvPr/>
        </p:nvSpPr>
        <p:spPr>
          <a:xfrm>
            <a:off x="228600" y="1353312"/>
            <a:ext cx="5669280" cy="1051560"/>
          </a:xfrm>
          <a:prstGeom prst="rect">
            <a:avLst/>
          </a:prstGeom>
          <a:noFill/>
        </p:spPr>
        <p:txBody>
          <a:bodyPr wrap="square">
            <a:spAutoFit/>
          </a:bodyPr>
          <a:lstStyle/>
          <a:p>
            <a:pPr>
              <a:spcBef>
                <a:spcPts val="500"/>
              </a:spcBef>
            </a:pPr>
            <a:r>
              <a:rPr sz="1200" b="0">
                <a:solidFill>
                  <a:srgbClr val="1A1A2E"/>
                </a:solidFill>
                <a:latin typeface="Segoe UI"/>
              </a:rPr>
              <a:t>A browser page that acts as a Genesys AudioHook v2 caller</a:t>
            </a:r>
          </a:p>
          <a:p>
            <a:pPr>
              <a:spcBef>
                <a:spcPts val="500"/>
              </a:spcBef>
            </a:pPr>
            <a:r>
              <a:rPr sz="1200" b="0">
                <a:solidFill>
                  <a:srgbClr val="1A1A2E"/>
                </a:solidFill>
                <a:latin typeface="Segoe UI"/>
              </a:rPr>
              <a:t>Sends the exact same WebSocket messages and audio format as real Genesys</a:t>
            </a:r>
          </a:p>
          <a:p>
            <a:pPr>
              <a:spcBef>
                <a:spcPts val="500"/>
              </a:spcBef>
            </a:pPr>
            <a:r>
              <a:rPr sz="1200" b="0">
                <a:solidFill>
                  <a:srgbClr val="1A1A2E"/>
                </a:solidFill>
                <a:latin typeface="Segoe UI"/>
              </a:rPr>
              <a:t>The server processes both through identical code — it cannot tell the difference</a:t>
            </a:r>
          </a:p>
          <a:p>
            <a:pPr>
              <a:spcBef>
                <a:spcPts val="500"/>
              </a:spcBef>
            </a:pPr>
            <a:r>
              <a:rPr sz="1200" b="0">
                <a:solidFill>
                  <a:srgbClr val="1A1A2E"/>
                </a:solidFill>
                <a:latin typeface="Segoe UI"/>
              </a:rPr>
              <a:t>Select  🎧 Genesys Simulator  on the /user/ page to activate it</a:t>
            </a:r>
          </a:p>
        </p:txBody>
      </p:sp>
      <p:sp>
        <p:nvSpPr>
          <p:cNvPr id="10" name="Rectangle 9"/>
          <p:cNvSpPr/>
          <p:nvPr/>
        </p:nvSpPr>
        <p:spPr>
          <a:xfrm>
            <a:off x="228600" y="2487168"/>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 y="2523744"/>
            <a:ext cx="5522976" cy="201168"/>
          </a:xfrm>
          <a:prstGeom prst="rect">
            <a:avLst/>
          </a:prstGeom>
          <a:noFill/>
        </p:spPr>
        <p:txBody>
          <a:bodyPr wrap="square">
            <a:spAutoFit/>
          </a:bodyPr>
          <a:lstStyle/>
          <a:p>
            <a:pPr algn="l"/>
            <a:r>
              <a:rPr sz="900" b="1">
                <a:solidFill>
                  <a:srgbClr val="555566"/>
                </a:solidFill>
                <a:latin typeface="Segoe UI"/>
              </a:rPr>
              <a:t>HOW IT WORKS — STEP BY STEP</a:t>
            </a:r>
          </a:p>
        </p:txBody>
      </p:sp>
      <p:sp>
        <p:nvSpPr>
          <p:cNvPr id="12" name="TextBox 11"/>
          <p:cNvSpPr txBox="1"/>
          <p:nvPr/>
        </p:nvSpPr>
        <p:spPr>
          <a:xfrm>
            <a:off x="228600" y="2807208"/>
            <a:ext cx="5669280" cy="2514600"/>
          </a:xfrm>
          <a:prstGeom prst="rect">
            <a:avLst/>
          </a:prstGeom>
          <a:noFill/>
        </p:spPr>
        <p:txBody>
          <a:bodyPr wrap="square">
            <a:spAutoFit/>
          </a:bodyPr>
          <a:lstStyle/>
          <a:p>
            <a:pPr>
              <a:spcBef>
                <a:spcPts val="500"/>
              </a:spcBef>
            </a:pPr>
            <a:r>
              <a:rPr sz="1200" b="0">
                <a:solidFill>
                  <a:srgbClr val="1A1A2E"/>
                </a:solidFill>
                <a:latin typeface="Segoe UI"/>
              </a:rPr>
              <a:t>1.  Click Connect — browser generates a UUID session ID</a:t>
            </a:r>
          </a:p>
          <a:p>
            <a:pPr>
              <a:spcBef>
                <a:spcPts val="500"/>
              </a:spcBef>
            </a:pPr>
            <a:r>
              <a:rPr sz="1200" b="0">
                <a:solidFill>
                  <a:srgbClr val="1A1A2E"/>
                </a:solidFill>
                <a:latin typeface="Segoe UI"/>
              </a:rPr>
              <a:t>2.  Sends AudioHook v2  open  message (JSON) to  /ws/genesys</a:t>
            </a:r>
          </a:p>
          <a:p>
            <a:pPr>
              <a:spcBef>
                <a:spcPts val="500"/>
              </a:spcBef>
            </a:pPr>
            <a:r>
              <a:rPr sz="1200" b="0">
                <a:solidFill>
                  <a:srgbClr val="1A1A2E"/>
                </a:solidFill>
                <a:latin typeface="Segoe UI"/>
              </a:rPr>
              <a:t>3.  Server creates a call record — call appears in Agent UI</a:t>
            </a:r>
          </a:p>
          <a:p>
            <a:pPr>
              <a:spcBef>
                <a:spcPts val="500"/>
              </a:spcBef>
            </a:pPr>
            <a:r>
              <a:rPr sz="1200" b="0">
                <a:solidFill>
                  <a:srgbClr val="1A1A2E"/>
                </a:solidFill>
                <a:latin typeface="Segoe UI"/>
              </a:rPr>
              <a:t>4.  Server responds  opened  — audio streaming begins</a:t>
            </a:r>
          </a:p>
          <a:p>
            <a:pPr>
              <a:spcBef>
                <a:spcPts val="500"/>
              </a:spcBef>
            </a:pPr>
            <a:r>
              <a:rPr sz="1200" b="0">
                <a:solidFill>
                  <a:srgbClr val="1A1A2E"/>
                </a:solidFill>
                <a:latin typeface="Segoe UI"/>
              </a:rPr>
              <a:t>5.  Mic audio:  AudioWorklet resamples to 16kHz  →  mulaw.js encodes to µ-law 8kHz  →  binary WebSocket frames</a:t>
            </a:r>
          </a:p>
          <a:p>
            <a:pPr>
              <a:spcBef>
                <a:spcPts val="500"/>
              </a:spcBef>
            </a:pPr>
            <a:r>
              <a:rPr sz="1200" b="0">
                <a:solidFill>
                  <a:srgbClr val="1A1A2E"/>
                </a:solidFill>
                <a:latin typeface="Segoe UI"/>
              </a:rPr>
              <a:t>6.  Server decodes µ-law  →  PCM 16kHz  →  Azure AI Speech  →  translated audio</a:t>
            </a:r>
          </a:p>
          <a:p>
            <a:pPr>
              <a:spcBef>
                <a:spcPts val="500"/>
              </a:spcBef>
            </a:pPr>
            <a:r>
              <a:rPr sz="1200" b="0">
                <a:solidFill>
                  <a:srgbClr val="1A1A2E"/>
                </a:solidFill>
                <a:latin typeface="Segoe UI"/>
              </a:rPr>
              <a:t>7.  Agent opens /agent/, selects language, clicks Connect — translation begins</a:t>
            </a:r>
          </a:p>
          <a:p>
            <a:pPr>
              <a:spcBef>
                <a:spcPts val="500"/>
              </a:spcBef>
            </a:pPr>
            <a:r>
              <a:rPr sz="1200" b="0">
                <a:solidFill>
                  <a:srgbClr val="1A1A2E"/>
                </a:solidFill>
                <a:latin typeface="Segoe UI"/>
              </a:rPr>
              <a:t>8.  Translated audio returns as µ-law binary frames  →  browser decodes  →  plays through speakers</a:t>
            </a:r>
          </a:p>
        </p:txBody>
      </p:sp>
      <p:sp>
        <p:nvSpPr>
          <p:cNvPr id="13" name="Rectangle 12"/>
          <p:cNvSpPr/>
          <p:nvPr/>
        </p:nvSpPr>
        <p:spPr>
          <a:xfrm>
            <a:off x="6263640" y="1033271"/>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1069848"/>
            <a:ext cx="5522976" cy="201168"/>
          </a:xfrm>
          <a:prstGeom prst="rect">
            <a:avLst/>
          </a:prstGeom>
          <a:noFill/>
        </p:spPr>
        <p:txBody>
          <a:bodyPr wrap="square">
            <a:spAutoFit/>
          </a:bodyPr>
          <a:lstStyle/>
          <a:p>
            <a:pPr algn="l"/>
            <a:r>
              <a:rPr sz="900" b="1">
                <a:solidFill>
                  <a:srgbClr val="555566"/>
                </a:solidFill>
                <a:latin typeface="Segoe UI"/>
              </a:rPr>
              <a:t>HOW TO USE IT</a:t>
            </a:r>
          </a:p>
        </p:txBody>
      </p:sp>
      <p:sp>
        <p:nvSpPr>
          <p:cNvPr id="15" name="TextBox 14"/>
          <p:cNvSpPr txBox="1"/>
          <p:nvPr/>
        </p:nvSpPr>
        <p:spPr>
          <a:xfrm>
            <a:off x="6263640" y="1353312"/>
            <a:ext cx="5669280" cy="3657600"/>
          </a:xfrm>
          <a:prstGeom prst="rect">
            <a:avLst/>
          </a:prstGeom>
          <a:noFill/>
        </p:spPr>
        <p:txBody>
          <a:bodyPr wrap="square">
            <a:spAutoFit/>
          </a:bodyPr>
          <a:lstStyle/>
          <a:p>
            <a:pPr>
              <a:spcBef>
                <a:spcPts val="500"/>
              </a:spcBef>
            </a:pPr>
            <a:r>
              <a:rPr sz="1300" b="1">
                <a:solidFill>
                  <a:srgbClr val="003A6E"/>
                </a:solidFill>
                <a:latin typeface="Segoe UI"/>
              </a:rPr>
              <a:t>Prerequisites</a:t>
            </a:r>
          </a:p>
          <a:p>
            <a:pPr>
              <a:spcBef>
                <a:spcPts val="500"/>
              </a:spcBef>
            </a:pPr>
            <a:r>
              <a:rPr sz="1200" b="0">
                <a:solidFill>
                  <a:srgbClr val="1A1A2E"/>
                </a:solidFill>
                <a:latin typeface="Segoe UI"/>
              </a:rPr>
              <a:t>dotnet run  from  src/ACSTranslate.API</a:t>
            </a:r>
          </a:p>
          <a:p>
            <a:pPr>
              <a:spcBef>
                <a:spcPts val="500"/>
              </a:spcBef>
            </a:pPr>
            <a:r>
              <a:rPr sz="1200" b="0">
                <a:solidFill>
                  <a:srgbClr val="1A1A2E"/>
                </a:solidFill>
                <a:latin typeface="Segoe UI"/>
              </a:rPr>
              <a:t>Chrome or Edge browser with microphone</a:t>
            </a:r>
          </a:p>
          <a:p>
            <a:pPr>
              <a:spcBef>
                <a:spcPts val="500"/>
              </a:spcBef>
            </a:pPr>
            <a:r>
              <a:rPr sz="1200" b="0">
                <a:solidFill>
                  <a:srgbClr val="1A1A2E"/>
                </a:solidFill>
                <a:latin typeface="Segoe UI"/>
              </a:rPr>
              <a:t>Azure AI Speech configured in appsettings.json</a:t>
            </a:r>
          </a:p>
          <a:p>
            <a:pPr>
              <a:spcBef>
                <a:spcPts val="500"/>
              </a:spcBef>
            </a:pPr>
            <a:endParaRPr sz="1200" b="0">
              <a:solidFill>
                <a:srgbClr val="1A1A2E"/>
              </a:solidFill>
              <a:latin typeface="Segoe UI"/>
            </a:endParaRPr>
          </a:p>
          <a:p>
            <a:pPr>
              <a:spcBef>
                <a:spcPts val="500"/>
              </a:spcBef>
            </a:pPr>
            <a:r>
              <a:rPr sz="1300" b="1">
                <a:solidFill>
                  <a:srgbClr val="003A6E"/>
                </a:solidFill>
                <a:latin typeface="Segoe UI"/>
              </a:rPr>
              <a:t>Steps</a:t>
            </a:r>
          </a:p>
          <a:p>
            <a:pPr>
              <a:spcBef>
                <a:spcPts val="500"/>
              </a:spcBef>
            </a:pPr>
            <a:r>
              <a:rPr sz="1200" b="0">
                <a:solidFill>
                  <a:srgbClr val="1A1A2E"/>
                </a:solidFill>
                <a:latin typeface="Segoe UI"/>
              </a:rPr>
              <a:t>1.  Open  http://localhost:5058/user/</a:t>
            </a:r>
          </a:p>
          <a:p>
            <a:pPr>
              <a:spcBef>
                <a:spcPts val="500"/>
              </a:spcBef>
            </a:pPr>
            <a:r>
              <a:rPr sz="1200" b="0">
                <a:solidFill>
                  <a:srgbClr val="1A1A2E"/>
                </a:solidFill>
                <a:latin typeface="Segoe UI"/>
              </a:rPr>
              <a:t>2.  Select  🎧 Genesys Simulator  →  click Connect</a:t>
            </a:r>
          </a:p>
          <a:p>
            <a:pPr>
              <a:spcBef>
                <a:spcPts val="500"/>
              </a:spcBef>
            </a:pPr>
            <a:r>
              <a:rPr sz="1200" b="0">
                <a:solidFill>
                  <a:srgbClr val="1A1A2E"/>
                </a:solidFill>
                <a:latin typeface="Segoe UI"/>
              </a:rPr>
              <a:t>3.  Grant microphone permission</a:t>
            </a:r>
          </a:p>
          <a:p>
            <a:pPr>
              <a:spcBef>
                <a:spcPts val="500"/>
              </a:spcBef>
            </a:pPr>
            <a:r>
              <a:rPr sz="1200" b="0">
                <a:solidFill>
                  <a:srgbClr val="1A1A2E"/>
                </a:solidFill>
                <a:latin typeface="Segoe UI"/>
              </a:rPr>
              <a:t>4.  Page shows:  'waiting for agent to connect...'</a:t>
            </a:r>
          </a:p>
          <a:p>
            <a:pPr>
              <a:spcBef>
                <a:spcPts val="500"/>
              </a:spcBef>
            </a:pPr>
            <a:r>
              <a:rPr sz="1200" b="0">
                <a:solidFill>
                  <a:srgbClr val="1A1A2E"/>
                </a:solidFill>
                <a:latin typeface="Segoe UI"/>
              </a:rPr>
              <a:t>5.  Open  http://localhost:5058/agent/  in a second tab</a:t>
            </a:r>
          </a:p>
          <a:p>
            <a:pPr>
              <a:spcBef>
                <a:spcPts val="500"/>
              </a:spcBef>
            </a:pPr>
            <a:r>
              <a:rPr sz="1200" b="0">
                <a:solidFill>
                  <a:srgbClr val="1A1A2E"/>
                </a:solidFill>
                <a:latin typeface="Segoe UI"/>
              </a:rPr>
              <a:t>6.  Find the call  (genesys:sim-XXXXXXXX)  →  select language  →  Connect</a:t>
            </a:r>
          </a:p>
          <a:p>
            <a:pPr>
              <a:spcBef>
                <a:spcPts val="500"/>
              </a:spcBef>
            </a:pPr>
            <a:r>
              <a:rPr sz="1200" b="0">
                <a:solidFill>
                  <a:srgbClr val="1A1A2E"/>
                </a:solidFill>
                <a:latin typeface="Segoe UI"/>
              </a:rPr>
              <a:t>7.  Speak — translation flows in both directions</a:t>
            </a:r>
          </a:p>
        </p:txBody>
      </p:sp>
      <p:sp>
        <p:nvSpPr>
          <p:cNvPr id="19" name="Rectangle 18"/>
          <p:cNvSpPr/>
          <p:nvPr/>
        </p:nvSpPr>
        <p:spPr>
          <a:xfrm>
            <a:off x="228600" y="6309360"/>
            <a:ext cx="11731752" cy="411480"/>
          </a:xfrm>
          <a:prstGeom prst="rect">
            <a:avLst/>
          </a:prstGeom>
          <a:solidFill>
            <a:srgbClr val="FFF0C0"/>
          </a:solidFill>
          <a:ln w="12700">
            <a:solidFill>
              <a:srgbClr val="CC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6364224"/>
            <a:ext cx="11430000" cy="320040"/>
          </a:xfrm>
          <a:prstGeom prst="rect">
            <a:avLst/>
          </a:prstGeom>
          <a:noFill/>
        </p:spPr>
        <p:txBody>
          <a:bodyPr wrap="square">
            <a:spAutoFit/>
          </a:bodyPr>
          <a:lstStyle/>
          <a:p>
            <a:pPr algn="l"/>
            <a:r>
              <a:rPr sz="1000" b="0">
                <a:solidFill>
                  <a:srgbClr val="1A1A2E"/>
                </a:solidFill>
                <a:latin typeface="Segoe UI"/>
              </a:rPr>
              <a:t>ⓘ  The server (GenesysWebSocketHandler + GenesysCallBridge) handles Simulator and real Genesys through identical code paths.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60120"/>
          </a:xfrm>
          <a:prstGeom prst="rect">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 cy="9601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91440"/>
            <a:ext cx="11704320" cy="548640"/>
          </a:xfrm>
          <a:prstGeom prst="rect">
            <a:avLst/>
          </a:prstGeom>
          <a:noFill/>
        </p:spPr>
        <p:txBody>
          <a:bodyPr wrap="square">
            <a:spAutoFit/>
          </a:bodyPr>
          <a:lstStyle/>
          <a:p>
            <a:pPr algn="l"/>
            <a:r>
              <a:rPr sz="2600" b="1">
                <a:solidFill>
                  <a:srgbClr val="FFFFFF"/>
                </a:solidFill>
                <a:latin typeface="Segoe UI"/>
              </a:rPr>
              <a:t>Real Genesys Cloud  vs  Genesys Simulator</a:t>
            </a:r>
          </a:p>
        </p:txBody>
      </p:sp>
      <p:sp>
        <p:nvSpPr>
          <p:cNvPr id="6" name="TextBox 5"/>
          <p:cNvSpPr txBox="1"/>
          <p:nvPr/>
        </p:nvSpPr>
        <p:spPr>
          <a:xfrm>
            <a:off x="182880" y="621792"/>
            <a:ext cx="11704320" cy="301752"/>
          </a:xfrm>
          <a:prstGeom prst="rect">
            <a:avLst/>
          </a:prstGeom>
          <a:noFill/>
        </p:spPr>
        <p:txBody>
          <a:bodyPr wrap="square">
            <a:spAutoFit/>
          </a:bodyPr>
          <a:lstStyle/>
          <a:p>
            <a:pPr algn="l"/>
            <a:r>
              <a:rPr sz="1200" b="0">
                <a:solidFill>
                  <a:srgbClr val="BBCCFF"/>
                </a:solidFill>
                <a:latin typeface="Segoe UI"/>
              </a:rPr>
              <a:t>Same server code — same AudioHook v2 protocol — different caller source</a:t>
            </a:r>
          </a:p>
        </p:txBody>
      </p:sp>
      <p:graphicFrame>
        <p:nvGraphicFramePr>
          <p:cNvPr id="7" name="Table 6"/>
          <p:cNvGraphicFramePr>
            <a:graphicFrameLocks noGrp="1"/>
          </p:cNvGraphicFramePr>
          <p:nvPr/>
        </p:nvGraphicFramePr>
        <p:xfrm>
          <a:off x="228600" y="1024128"/>
          <a:ext cx="11521440" cy="5166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30530">
                <a:tc>
                  <a:txBody>
                    <a:bodyPr/>
                    <a:lstStyle/>
                    <a:p>
                      <a:pPr algn="ctr"/>
                      <a:endParaRPr/>
                    </a:p>
                  </a:txBody>
                  <a:tcPr>
                    <a:solidFill>
                      <a:srgbClr val="003A6E"/>
                    </a:solidFill>
                  </a:tcPr>
                </a:tc>
                <a:tc>
                  <a:txBody>
                    <a:bodyPr/>
                    <a:lstStyle/>
                    <a:p>
                      <a:pPr algn="ctr"/>
                      <a:r>
                        <a:rPr sz="1200" b="1">
                          <a:solidFill>
                            <a:srgbClr val="FFFFFF"/>
                          </a:solidFill>
                          <a:latin typeface="Segoe UI"/>
                        </a:rPr>
                        <a:t>Real Genesys Cloud</a:t>
                      </a:r>
                    </a:p>
                  </a:txBody>
                  <a:tcPr>
                    <a:solidFill>
                      <a:srgbClr val="003A6E"/>
                    </a:solidFill>
                  </a:tcPr>
                </a:tc>
                <a:tc>
                  <a:txBody>
                    <a:bodyPr/>
                    <a:lstStyle/>
                    <a:p>
                      <a:pPr algn="ctr"/>
                      <a:r>
                        <a:rPr sz="1200" b="1">
                          <a:solidFill>
                            <a:srgbClr val="FFFFFF"/>
                          </a:solidFill>
                          <a:latin typeface="Segoe UI"/>
                        </a:rPr>
                        <a:t>Genesys Simulator</a:t>
                      </a:r>
                    </a:p>
                  </a:txBody>
                  <a:tcPr>
                    <a:solidFill>
                      <a:srgbClr val="003A6E"/>
                    </a:solidFill>
                  </a:tcPr>
                </a:tc>
                <a:extLst>
                  <a:ext uri="{0D108BD9-81ED-4DB2-BD59-A6C34878D82A}">
                    <a16:rowId xmlns:a16="http://schemas.microsoft.com/office/drawing/2014/main" val="10000"/>
                  </a:ext>
                </a:extLst>
              </a:tr>
              <a:tr h="430530">
                <a:tc>
                  <a:txBody>
                    <a:bodyPr/>
                    <a:lstStyle/>
                    <a:p>
                      <a:pPr algn="l"/>
                      <a:r>
                        <a:rPr sz="1100">
                          <a:solidFill>
                            <a:srgbClr val="1A1A2E"/>
                          </a:solidFill>
                          <a:latin typeface="Segoe UI"/>
                        </a:rPr>
                        <a:t>Who opens the WebSocket</a:t>
                      </a:r>
                    </a:p>
                  </a:txBody>
                  <a:tcPr>
                    <a:solidFill>
                      <a:srgbClr val="FFFFFF"/>
                    </a:solidFill>
                  </a:tcPr>
                </a:tc>
                <a:tc>
                  <a:txBody>
                    <a:bodyPr/>
                    <a:lstStyle/>
                    <a:p>
                      <a:pPr algn="l"/>
                      <a:r>
                        <a:rPr sz="1100">
                          <a:solidFill>
                            <a:srgbClr val="1A1A2E"/>
                          </a:solidFill>
                          <a:latin typeface="Segoe UI"/>
                        </a:rPr>
                        <a:t>Genesys Cloud servers (from their cloud infrastructure)</a:t>
                      </a:r>
                    </a:p>
                  </a:txBody>
                  <a:tcPr>
                    <a:solidFill>
                      <a:srgbClr val="FFFFFF"/>
                    </a:solidFill>
                  </a:tcPr>
                </a:tc>
                <a:tc>
                  <a:txBody>
                    <a:bodyPr/>
                    <a:lstStyle/>
                    <a:p>
                      <a:pPr algn="l"/>
                      <a:r>
                        <a:rPr sz="1100">
                          <a:solidFill>
                            <a:srgbClr val="1A1A2E"/>
                          </a:solidFill>
                          <a:latin typeface="Segoe UI"/>
                        </a:rPr>
                        <a:t>Your browser (runs on your machine)</a:t>
                      </a:r>
                    </a:p>
                  </a:txBody>
                  <a:tcPr>
                    <a:solidFill>
                      <a:srgbClr val="FFFFFF"/>
                    </a:solidFill>
                  </a:tcPr>
                </a:tc>
                <a:extLst>
                  <a:ext uri="{0D108BD9-81ED-4DB2-BD59-A6C34878D82A}">
                    <a16:rowId xmlns:a16="http://schemas.microsoft.com/office/drawing/2014/main" val="10001"/>
                  </a:ext>
                </a:extLst>
              </a:tr>
              <a:tr h="430530">
                <a:tc>
                  <a:txBody>
                    <a:bodyPr/>
                    <a:lstStyle/>
                    <a:p>
                      <a:pPr algn="l"/>
                      <a:r>
                        <a:rPr sz="1100">
                          <a:solidFill>
                            <a:srgbClr val="1A1A2E"/>
                          </a:solidFill>
                          <a:latin typeface="Segoe UI"/>
                        </a:rPr>
                        <a:t>Audio source</a:t>
                      </a:r>
                    </a:p>
                  </a:txBody>
                  <a:tcPr>
                    <a:solidFill>
                      <a:srgbClr val="EDEEF8"/>
                    </a:solidFill>
                  </a:tcPr>
                </a:tc>
                <a:tc>
                  <a:txBody>
                    <a:bodyPr/>
                    <a:lstStyle/>
                    <a:p>
                      <a:pPr algn="l"/>
                      <a:r>
                        <a:rPr sz="1100">
                          <a:solidFill>
                            <a:srgbClr val="1A1A2E"/>
                          </a:solidFill>
                          <a:latin typeface="Segoe UI"/>
                        </a:rPr>
                        <a:t>PSTN caller's voice from the telephone network</a:t>
                      </a:r>
                    </a:p>
                  </a:txBody>
                  <a:tcPr>
                    <a:solidFill>
                      <a:srgbClr val="EDEEF8"/>
                    </a:solidFill>
                  </a:tcPr>
                </a:tc>
                <a:tc>
                  <a:txBody>
                    <a:bodyPr/>
                    <a:lstStyle/>
                    <a:p>
                      <a:pPr algn="l"/>
                      <a:r>
                        <a:rPr sz="1100">
                          <a:solidFill>
                            <a:srgbClr val="1A1A2E"/>
                          </a:solidFill>
                          <a:latin typeface="Segoe UI"/>
                        </a:rPr>
                        <a:t>Your computer microphone</a:t>
                      </a:r>
                    </a:p>
                  </a:txBody>
                  <a:tcPr>
                    <a:solidFill>
                      <a:srgbClr val="EDEEF8"/>
                    </a:solidFill>
                  </a:tcPr>
                </a:tc>
                <a:extLst>
                  <a:ext uri="{0D108BD9-81ED-4DB2-BD59-A6C34878D82A}">
                    <a16:rowId xmlns:a16="http://schemas.microsoft.com/office/drawing/2014/main" val="10002"/>
                  </a:ext>
                </a:extLst>
              </a:tr>
              <a:tr h="430530">
                <a:tc>
                  <a:txBody>
                    <a:bodyPr/>
                    <a:lstStyle/>
                    <a:p>
                      <a:pPr algn="l"/>
                      <a:r>
                        <a:rPr sz="1100">
                          <a:solidFill>
                            <a:srgbClr val="1A1A2E"/>
                          </a:solidFill>
                          <a:latin typeface="Segoe UI"/>
                        </a:rPr>
                        <a:t>Session ID</a:t>
                      </a:r>
                    </a:p>
                  </a:txBody>
                  <a:tcPr>
                    <a:solidFill>
                      <a:srgbClr val="FFFFFF"/>
                    </a:solidFill>
                  </a:tcPr>
                </a:tc>
                <a:tc>
                  <a:txBody>
                    <a:bodyPr/>
                    <a:lstStyle/>
                    <a:p>
                      <a:pPr algn="l"/>
                      <a:r>
                        <a:rPr sz="1100">
                          <a:solidFill>
                            <a:srgbClr val="1A1A2E"/>
                          </a:solidFill>
                          <a:latin typeface="Segoe UI"/>
                        </a:rPr>
                        <a:t>Genesys sends as HTTP header:  audiohook-session-id</a:t>
                      </a:r>
                    </a:p>
                  </a:txBody>
                  <a:tcPr>
                    <a:solidFill>
                      <a:srgbClr val="FFFFFF"/>
                    </a:solidFill>
                  </a:tcPr>
                </a:tc>
                <a:tc>
                  <a:txBody>
                    <a:bodyPr/>
                    <a:lstStyle/>
                    <a:p>
                      <a:pPr algn="l"/>
                      <a:r>
                        <a:rPr sz="1100">
                          <a:solidFill>
                            <a:srgbClr val="1A1A2E"/>
                          </a:solidFill>
                          <a:latin typeface="Segoe UI"/>
                        </a:rPr>
                        <a:t>Browser generates UUID, passed as URL param:  ?sessionId=</a:t>
                      </a:r>
                    </a:p>
                  </a:txBody>
                  <a:tcPr>
                    <a:solidFill>
                      <a:srgbClr val="FFFFFF"/>
                    </a:solidFill>
                  </a:tcPr>
                </a:tc>
                <a:extLst>
                  <a:ext uri="{0D108BD9-81ED-4DB2-BD59-A6C34878D82A}">
                    <a16:rowId xmlns:a16="http://schemas.microsoft.com/office/drawing/2014/main" val="10003"/>
                  </a:ext>
                </a:extLst>
              </a:tr>
              <a:tr h="430530">
                <a:tc>
                  <a:txBody>
                    <a:bodyPr/>
                    <a:lstStyle/>
                    <a:p>
                      <a:pPr algn="l"/>
                      <a:r>
                        <a:rPr sz="1100">
                          <a:solidFill>
                            <a:srgbClr val="1A1A2E"/>
                          </a:solidFill>
                          <a:latin typeface="Segoe UI"/>
                        </a:rPr>
                        <a:t>Conversation ID</a:t>
                      </a:r>
                    </a:p>
                  </a:txBody>
                  <a:tcPr>
                    <a:solidFill>
                      <a:srgbClr val="EDEEF8"/>
                    </a:solidFill>
                  </a:tcPr>
                </a:tc>
                <a:tc>
                  <a:txBody>
                    <a:bodyPr/>
                    <a:lstStyle/>
                    <a:p>
                      <a:pPr algn="l"/>
                      <a:r>
                        <a:rPr sz="1100">
                          <a:solidFill>
                            <a:srgbClr val="1A1A2E"/>
                          </a:solidFill>
                          <a:latin typeface="Segoe UI"/>
                        </a:rPr>
                        <a:t>Real Genesys conversation GUID</a:t>
                      </a:r>
                    </a:p>
                  </a:txBody>
                  <a:tcPr>
                    <a:solidFill>
                      <a:srgbClr val="EDEEF8"/>
                    </a:solidFill>
                  </a:tcPr>
                </a:tc>
                <a:tc>
                  <a:txBody>
                    <a:bodyPr/>
                    <a:lstStyle/>
                    <a:p>
                      <a:pPr algn="l"/>
                      <a:r>
                        <a:rPr sz="1100">
                          <a:solidFill>
                            <a:srgbClr val="1A1A2E"/>
                          </a:solidFill>
                          <a:latin typeface="Segoe UI"/>
                        </a:rPr>
                        <a:t>sim-XXXXXXXX  (randomly generated each session)</a:t>
                      </a:r>
                    </a:p>
                  </a:txBody>
                  <a:tcPr>
                    <a:solidFill>
                      <a:srgbClr val="EDEEF8"/>
                    </a:solidFill>
                  </a:tcPr>
                </a:tc>
                <a:extLst>
                  <a:ext uri="{0D108BD9-81ED-4DB2-BD59-A6C34878D82A}">
                    <a16:rowId xmlns:a16="http://schemas.microsoft.com/office/drawing/2014/main" val="10004"/>
                  </a:ext>
                </a:extLst>
              </a:tr>
              <a:tr h="430530">
                <a:tc>
                  <a:txBody>
                    <a:bodyPr/>
                    <a:lstStyle/>
                    <a:p>
                      <a:pPr algn="l"/>
                      <a:r>
                        <a:rPr sz="1100">
                          <a:solidFill>
                            <a:srgbClr val="1A1A2E"/>
                          </a:solidFill>
                          <a:latin typeface="Segoe UI"/>
                        </a:rPr>
                        <a:t>Call ID in Agent UI</a:t>
                      </a:r>
                    </a:p>
                  </a:txBody>
                  <a:tcPr>
                    <a:solidFill>
                      <a:srgbClr val="FFFFFF"/>
                    </a:solidFill>
                  </a:tcPr>
                </a:tc>
                <a:tc>
                  <a:txBody>
                    <a:bodyPr/>
                    <a:lstStyle/>
                    <a:p>
                      <a:pPr algn="l"/>
                      <a:r>
                        <a:rPr sz="1100">
                          <a:solidFill>
                            <a:srgbClr val="1A1A2E"/>
                          </a:solidFill>
                          <a:latin typeface="Segoe UI"/>
                        </a:rPr>
                        <a:t>genesys:&lt;real-conversation-id&gt;</a:t>
                      </a:r>
                    </a:p>
                  </a:txBody>
                  <a:tcPr>
                    <a:solidFill>
                      <a:srgbClr val="FFFFFF"/>
                    </a:solidFill>
                  </a:tcPr>
                </a:tc>
                <a:tc>
                  <a:txBody>
                    <a:bodyPr/>
                    <a:lstStyle/>
                    <a:p>
                      <a:pPr algn="l"/>
                      <a:r>
                        <a:rPr sz="1100">
                          <a:solidFill>
                            <a:srgbClr val="1A1A2E"/>
                          </a:solidFill>
                          <a:latin typeface="Segoe UI"/>
                        </a:rPr>
                        <a:t>genesys:sim-XXXXXXXX</a:t>
                      </a:r>
                    </a:p>
                  </a:txBody>
                  <a:tcPr>
                    <a:solidFill>
                      <a:srgbClr val="FFFFFF"/>
                    </a:solidFill>
                  </a:tcPr>
                </a:tc>
                <a:extLst>
                  <a:ext uri="{0D108BD9-81ED-4DB2-BD59-A6C34878D82A}">
                    <a16:rowId xmlns:a16="http://schemas.microsoft.com/office/drawing/2014/main" val="10005"/>
                  </a:ext>
                </a:extLst>
              </a:tr>
              <a:tr h="430530">
                <a:tc>
                  <a:txBody>
                    <a:bodyPr/>
                    <a:lstStyle/>
                    <a:p>
                      <a:pPr algn="l"/>
                      <a:r>
                        <a:rPr sz="1100">
                          <a:solidFill>
                            <a:srgbClr val="1A1A2E"/>
                          </a:solidFill>
                          <a:latin typeface="Segoe UI"/>
                        </a:rPr>
                        <a:t>Caller phone number</a:t>
                      </a:r>
                    </a:p>
                  </a:txBody>
                  <a:tcPr>
                    <a:solidFill>
                      <a:srgbClr val="EDEEF8"/>
                    </a:solidFill>
                  </a:tcPr>
                </a:tc>
                <a:tc>
                  <a:txBody>
                    <a:bodyPr/>
                    <a:lstStyle/>
                    <a:p>
                      <a:pPr algn="l"/>
                      <a:r>
                        <a:rPr sz="1100">
                          <a:solidFill>
                            <a:srgbClr val="1A1A2E"/>
                          </a:solidFill>
                          <a:latin typeface="Segoe UI"/>
                        </a:rPr>
                        <a:t>Actual caller ANI from the phone network</a:t>
                      </a:r>
                    </a:p>
                  </a:txBody>
                  <a:tcPr>
                    <a:solidFill>
                      <a:srgbClr val="EDEEF8"/>
                    </a:solidFill>
                  </a:tcPr>
                </a:tc>
                <a:tc>
                  <a:txBody>
                    <a:bodyPr/>
                    <a:lstStyle/>
                    <a:p>
                      <a:pPr algn="l"/>
                      <a:r>
                        <a:rPr sz="1100">
                          <a:solidFill>
                            <a:srgbClr val="1A1A2E"/>
                          </a:solidFill>
                          <a:latin typeface="Segoe UI"/>
                        </a:rPr>
                        <a:t>+15551234567  (hardcoded dummy)</a:t>
                      </a:r>
                    </a:p>
                  </a:txBody>
                  <a:tcPr>
                    <a:solidFill>
                      <a:srgbClr val="EDEEF8"/>
                    </a:solidFill>
                  </a:tcPr>
                </a:tc>
                <a:extLst>
                  <a:ext uri="{0D108BD9-81ED-4DB2-BD59-A6C34878D82A}">
                    <a16:rowId xmlns:a16="http://schemas.microsoft.com/office/drawing/2014/main" val="10006"/>
                  </a:ext>
                </a:extLst>
              </a:tr>
              <a:tr h="430530">
                <a:tc>
                  <a:txBody>
                    <a:bodyPr/>
                    <a:lstStyle/>
                    <a:p>
                      <a:pPr algn="l"/>
                      <a:r>
                        <a:rPr sz="1100">
                          <a:solidFill>
                            <a:srgbClr val="1A1A2E"/>
                          </a:solidFill>
                          <a:latin typeface="Segoe UI"/>
                        </a:rPr>
                        <a:t>Language hint</a:t>
                      </a:r>
                    </a:p>
                  </a:txBody>
                  <a:tcPr>
                    <a:solidFill>
                      <a:srgbClr val="FFFFFF"/>
                    </a:solidFill>
                  </a:tcPr>
                </a:tc>
                <a:tc>
                  <a:txBody>
                    <a:bodyPr/>
                    <a:lstStyle/>
                    <a:p>
                      <a:pPr algn="l"/>
                      <a:r>
                        <a:rPr sz="1100">
                          <a:solidFill>
                            <a:srgbClr val="1A1A2E"/>
                          </a:solidFill>
                          <a:latin typeface="Segoe UI"/>
                        </a:rPr>
                        <a:t>Set in Architect flow:  inputVariables → language = 'es-MX'</a:t>
                      </a:r>
                    </a:p>
                  </a:txBody>
                  <a:tcPr>
                    <a:solidFill>
                      <a:srgbClr val="FFFFFF"/>
                    </a:solidFill>
                  </a:tcPr>
                </a:tc>
                <a:tc>
                  <a:txBody>
                    <a:bodyPr/>
                    <a:lstStyle/>
                    <a:p>
                      <a:pPr algn="l"/>
                      <a:r>
                        <a:rPr sz="1100">
                          <a:solidFill>
                            <a:srgbClr val="1A1A2E"/>
                          </a:solidFill>
                          <a:latin typeface="Segoe UI"/>
                        </a:rPr>
                        <a:t>Not passed — agent selects language manually from the UI</a:t>
                      </a:r>
                    </a:p>
                  </a:txBody>
                  <a:tcPr>
                    <a:solidFill>
                      <a:srgbClr val="FFFFFF"/>
                    </a:solidFill>
                  </a:tcPr>
                </a:tc>
                <a:extLst>
                  <a:ext uri="{0D108BD9-81ED-4DB2-BD59-A6C34878D82A}">
                    <a16:rowId xmlns:a16="http://schemas.microsoft.com/office/drawing/2014/main" val="10007"/>
                  </a:ext>
                </a:extLst>
              </a:tr>
              <a:tr h="430530">
                <a:tc>
                  <a:txBody>
                    <a:bodyPr/>
                    <a:lstStyle/>
                    <a:p>
                      <a:pPr algn="l"/>
                      <a:r>
                        <a:rPr sz="1100">
                          <a:solidFill>
                            <a:srgbClr val="1A1A2E"/>
                          </a:solidFill>
                          <a:latin typeface="Segoe UI"/>
                        </a:rPr>
                        <a:t>Audio format on the wire</a:t>
                      </a:r>
                    </a:p>
                  </a:txBody>
                  <a:tcPr>
                    <a:solidFill>
                      <a:srgbClr val="EDEEF8"/>
                    </a:solidFill>
                  </a:tcPr>
                </a:tc>
                <a:tc>
                  <a:txBody>
                    <a:bodyPr/>
                    <a:lstStyle/>
                    <a:p>
                      <a:pPr algn="l"/>
                      <a:r>
                        <a:rPr sz="1100">
                          <a:solidFill>
                            <a:srgbClr val="1A1A2E"/>
                          </a:solidFill>
                          <a:latin typeface="Segoe UI"/>
                        </a:rPr>
                        <a:t>µ-law 8kHz binary WebSocket frames  (identical)</a:t>
                      </a:r>
                    </a:p>
                  </a:txBody>
                  <a:tcPr>
                    <a:solidFill>
                      <a:srgbClr val="EDEEF8"/>
                    </a:solidFill>
                  </a:tcPr>
                </a:tc>
                <a:tc>
                  <a:txBody>
                    <a:bodyPr/>
                    <a:lstStyle/>
                    <a:p>
                      <a:pPr algn="l"/>
                      <a:r>
                        <a:rPr sz="1100">
                          <a:solidFill>
                            <a:srgbClr val="1A1A2E"/>
                          </a:solidFill>
                          <a:latin typeface="Segoe UI"/>
                        </a:rPr>
                        <a:t>µ-law 8kHz binary WebSocket frames  (identical)</a:t>
                      </a:r>
                    </a:p>
                  </a:txBody>
                  <a:tcPr>
                    <a:solidFill>
                      <a:srgbClr val="EDEEF8"/>
                    </a:solidFill>
                  </a:tcPr>
                </a:tc>
                <a:extLst>
                  <a:ext uri="{0D108BD9-81ED-4DB2-BD59-A6C34878D82A}">
                    <a16:rowId xmlns:a16="http://schemas.microsoft.com/office/drawing/2014/main" val="10008"/>
                  </a:ext>
                </a:extLst>
              </a:tr>
              <a:tr h="430530">
                <a:tc>
                  <a:txBody>
                    <a:bodyPr/>
                    <a:lstStyle/>
                    <a:p>
                      <a:pPr algn="l"/>
                      <a:r>
                        <a:rPr sz="1100">
                          <a:solidFill>
                            <a:srgbClr val="1A1A2E"/>
                          </a:solidFill>
                          <a:latin typeface="Segoe UI"/>
                        </a:rPr>
                        <a:t>AudioHook v2 messages</a:t>
                      </a:r>
                    </a:p>
                  </a:txBody>
                  <a:tcPr>
                    <a:solidFill>
                      <a:srgbClr val="FFFFFF"/>
                    </a:solidFill>
                  </a:tcPr>
                </a:tc>
                <a:tc>
                  <a:txBody>
                    <a:bodyPr/>
                    <a:lstStyle/>
                    <a:p>
                      <a:pPr algn="l"/>
                      <a:r>
                        <a:rPr sz="1100">
                          <a:solidFill>
                            <a:srgbClr val="1A1A2E"/>
                          </a:solidFill>
                          <a:latin typeface="Segoe UI"/>
                        </a:rPr>
                        <a:t>open / opened / ping / pong / close / closed  (identical)</a:t>
                      </a:r>
                    </a:p>
                  </a:txBody>
                  <a:tcPr>
                    <a:solidFill>
                      <a:srgbClr val="FFFFFF"/>
                    </a:solidFill>
                  </a:tcPr>
                </a:tc>
                <a:tc>
                  <a:txBody>
                    <a:bodyPr/>
                    <a:lstStyle/>
                    <a:p>
                      <a:pPr algn="l"/>
                      <a:r>
                        <a:rPr sz="1100">
                          <a:solidFill>
                            <a:srgbClr val="1A1A2E"/>
                          </a:solidFill>
                          <a:latin typeface="Segoe UI"/>
                        </a:rPr>
                        <a:t>open / opened / ping / pong / close / closed  (identical)</a:t>
                      </a:r>
                    </a:p>
                  </a:txBody>
                  <a:tcPr>
                    <a:solidFill>
                      <a:srgbClr val="FFFFFF"/>
                    </a:solidFill>
                  </a:tcPr>
                </a:tc>
                <a:extLst>
                  <a:ext uri="{0D108BD9-81ED-4DB2-BD59-A6C34878D82A}">
                    <a16:rowId xmlns:a16="http://schemas.microsoft.com/office/drawing/2014/main" val="10009"/>
                  </a:ext>
                </a:extLst>
              </a:tr>
              <a:tr h="430530">
                <a:tc>
                  <a:txBody>
                    <a:bodyPr/>
                    <a:lstStyle/>
                    <a:p>
                      <a:pPr algn="l"/>
                      <a:r>
                        <a:rPr sz="1100">
                          <a:solidFill>
                            <a:srgbClr val="1A1A2E"/>
                          </a:solidFill>
                          <a:latin typeface="Segoe UI"/>
                        </a:rPr>
                        <a:t>Authentication</a:t>
                      </a:r>
                    </a:p>
                  </a:txBody>
                  <a:tcPr>
                    <a:solidFill>
                      <a:srgbClr val="EDEEF8"/>
                    </a:solidFill>
                  </a:tcPr>
                </a:tc>
                <a:tc>
                  <a:txBody>
                    <a:bodyPr/>
                    <a:lstStyle/>
                    <a:p>
                      <a:pPr algn="l"/>
                      <a:r>
                        <a:rPr sz="1100">
                          <a:solidFill>
                            <a:srgbClr val="1A1A2E"/>
                          </a:solidFill>
                          <a:latin typeface="Segoe UI"/>
                        </a:rPr>
                        <a:t>None  (/ws/genesys is unauthenticated by design)</a:t>
                      </a:r>
                    </a:p>
                  </a:txBody>
                  <a:tcPr>
                    <a:solidFill>
                      <a:srgbClr val="EDEEF8"/>
                    </a:solidFill>
                  </a:tcPr>
                </a:tc>
                <a:tc>
                  <a:txBody>
                    <a:bodyPr/>
                    <a:lstStyle/>
                    <a:p>
                      <a:pPr algn="l"/>
                      <a:r>
                        <a:rPr sz="1100">
                          <a:solidFill>
                            <a:srgbClr val="1A1A2E"/>
                          </a:solidFill>
                          <a:latin typeface="Segoe UI"/>
                        </a:rPr>
                        <a:t>None</a:t>
                      </a:r>
                    </a:p>
                  </a:txBody>
                  <a:tcPr>
                    <a:solidFill>
                      <a:srgbClr val="EDEEF8"/>
                    </a:solidFill>
                  </a:tcPr>
                </a:tc>
                <a:extLst>
                  <a:ext uri="{0D108BD9-81ED-4DB2-BD59-A6C34878D82A}">
                    <a16:rowId xmlns:a16="http://schemas.microsoft.com/office/drawing/2014/main" val="10010"/>
                  </a:ext>
                </a:extLst>
              </a:tr>
              <a:tr h="430530">
                <a:tc>
                  <a:txBody>
                    <a:bodyPr/>
                    <a:lstStyle/>
                    <a:p>
                      <a:pPr algn="l"/>
                      <a:r>
                        <a:rPr sz="1100">
                          <a:solidFill>
                            <a:srgbClr val="1A1A2E"/>
                          </a:solidFill>
                          <a:latin typeface="Segoe UI"/>
                        </a:rPr>
                        <a:t>Setup required</a:t>
                      </a:r>
                    </a:p>
                  </a:txBody>
                  <a:tcPr>
                    <a:solidFill>
                      <a:srgbClr val="FFFFFF"/>
                    </a:solidFill>
                  </a:tcPr>
                </a:tc>
                <a:tc>
                  <a:txBody>
                    <a:bodyPr/>
                    <a:lstStyle/>
                    <a:p>
                      <a:pPr algn="l"/>
                      <a:r>
                        <a:rPr sz="1100">
                          <a:solidFill>
                            <a:srgbClr val="1A1A2E"/>
                          </a:solidFill>
                          <a:latin typeface="Segoe UI"/>
                        </a:rPr>
                        <a:t>Genesys Cloud org · AudioHook integration · Architect flow · public wss:// URL</a:t>
                      </a:r>
                    </a:p>
                  </a:txBody>
                  <a:tcPr>
                    <a:solidFill>
                      <a:srgbClr val="FFFFFF"/>
                    </a:solidFill>
                  </a:tcPr>
                </a:tc>
                <a:tc>
                  <a:txBody>
                    <a:bodyPr/>
                    <a:lstStyle/>
                    <a:p>
                      <a:pPr algn="l"/>
                      <a:r>
                        <a:rPr sz="1100">
                          <a:solidFill>
                            <a:srgbClr val="1A1A2E"/>
                          </a:solidFill>
                          <a:latin typeface="Segoe UI"/>
                        </a:rPr>
                        <a:t>dotnet run · Chrome/Edge · Azure AI Speech config only</a:t>
                      </a:r>
                    </a:p>
                  </a:txBody>
                  <a:tcPr>
                    <a:solidFill>
                      <a:srgbClr val="FFFFFF"/>
                    </a:solidFill>
                  </a:tcPr>
                </a:tc>
                <a:extLst>
                  <a:ext uri="{0D108BD9-81ED-4DB2-BD59-A6C34878D82A}">
                    <a16:rowId xmlns:a16="http://schemas.microsoft.com/office/drawing/2014/main" val="10011"/>
                  </a:ext>
                </a:extLst>
              </a:tr>
            </a:tbl>
          </a:graphicData>
        </a:graphic>
      </p:graphicFrame>
      <p:sp>
        <p:nvSpPr>
          <p:cNvPr id="8" name="Rectangle 7"/>
          <p:cNvSpPr/>
          <p:nvPr/>
        </p:nvSpPr>
        <p:spPr>
          <a:xfrm>
            <a:off x="228600" y="6309360"/>
            <a:ext cx="11731752" cy="411480"/>
          </a:xfrm>
          <a:prstGeom prst="rect">
            <a:avLst/>
          </a:prstGeom>
          <a:solidFill>
            <a:srgbClr val="FFF0C0"/>
          </a:solidFill>
          <a:ln w="12700">
            <a:solidFill>
              <a:srgbClr val="CC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6364224"/>
            <a:ext cx="11430000" cy="320040"/>
          </a:xfrm>
          <a:prstGeom prst="rect">
            <a:avLst/>
          </a:prstGeom>
          <a:noFill/>
        </p:spPr>
        <p:txBody>
          <a:bodyPr wrap="square">
            <a:spAutoFit/>
          </a:bodyPr>
          <a:lstStyle/>
          <a:p>
            <a:pPr algn="l"/>
            <a:r>
              <a:rPr sz="1000" b="0">
                <a:solidFill>
                  <a:srgbClr val="1A1A2E"/>
                </a:solidFill>
                <a:latin typeface="Segoe UI"/>
              </a:rPr>
              <a:t>ⓘ  The only server-side difference: session ID comes from an HTTP header (real) vs a query parameter (simulator). Everything else is identical.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60120"/>
          </a:xfrm>
          <a:prstGeom prst="rect">
            <a:avLst/>
          </a:prstGeom>
          <a:solidFill>
            <a:srgbClr val="00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 cy="96012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91440"/>
            <a:ext cx="11704320" cy="548640"/>
          </a:xfrm>
          <a:prstGeom prst="rect">
            <a:avLst/>
          </a:prstGeom>
          <a:noFill/>
        </p:spPr>
        <p:txBody>
          <a:bodyPr wrap="square">
            <a:spAutoFit/>
          </a:bodyPr>
          <a:lstStyle/>
          <a:p>
            <a:pPr algn="l"/>
            <a:r>
              <a:rPr sz="2600" b="1">
                <a:solidFill>
                  <a:srgbClr val="FFFFFF"/>
                </a:solidFill>
                <a:latin typeface="Segoe UI"/>
              </a:rPr>
              <a:t>Genesys Cloud Configuration</a:t>
            </a:r>
          </a:p>
        </p:txBody>
      </p:sp>
      <p:sp>
        <p:nvSpPr>
          <p:cNvPr id="6" name="TextBox 5"/>
          <p:cNvSpPr txBox="1"/>
          <p:nvPr/>
        </p:nvSpPr>
        <p:spPr>
          <a:xfrm>
            <a:off x="182880" y="621792"/>
            <a:ext cx="11704320" cy="301752"/>
          </a:xfrm>
          <a:prstGeom prst="rect">
            <a:avLst/>
          </a:prstGeom>
          <a:noFill/>
        </p:spPr>
        <p:txBody>
          <a:bodyPr wrap="square">
            <a:spAutoFit/>
          </a:bodyPr>
          <a:lstStyle/>
          <a:p>
            <a:pPr algn="l"/>
            <a:r>
              <a:rPr sz="1200" b="0">
                <a:solidFill>
                  <a:srgbClr val="BBCCFF"/>
                </a:solidFill>
                <a:latin typeface="Segoe UI"/>
              </a:rPr>
              <a:t>Three steps in the Genesys Admin console to connect Live Call Translation</a:t>
            </a:r>
          </a:p>
        </p:txBody>
      </p:sp>
      <p:sp>
        <p:nvSpPr>
          <p:cNvPr id="7" name="Rectangle 6"/>
          <p:cNvSpPr/>
          <p:nvPr/>
        </p:nvSpPr>
        <p:spPr>
          <a:xfrm>
            <a:off x="228600" y="1033271"/>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 y="1069848"/>
            <a:ext cx="5522976" cy="201168"/>
          </a:xfrm>
          <a:prstGeom prst="rect">
            <a:avLst/>
          </a:prstGeom>
          <a:noFill/>
        </p:spPr>
        <p:txBody>
          <a:bodyPr wrap="square">
            <a:spAutoFit/>
          </a:bodyPr>
          <a:lstStyle/>
          <a:p>
            <a:pPr algn="l"/>
            <a:r>
              <a:rPr sz="900" b="1">
                <a:solidFill>
                  <a:srgbClr val="555566"/>
                </a:solidFill>
                <a:latin typeface="Segoe UI"/>
              </a:rPr>
              <a:t>STEP 1 — CREATE THE AUDIOHOOK INTEGRATION</a:t>
            </a:r>
          </a:p>
        </p:txBody>
      </p:sp>
      <p:sp>
        <p:nvSpPr>
          <p:cNvPr id="9" name="TextBox 8"/>
          <p:cNvSpPr txBox="1"/>
          <p:nvPr/>
        </p:nvSpPr>
        <p:spPr>
          <a:xfrm>
            <a:off x="228600" y="1353312"/>
            <a:ext cx="5669280" cy="2331720"/>
          </a:xfrm>
          <a:prstGeom prst="rect">
            <a:avLst/>
          </a:prstGeom>
          <a:noFill/>
        </p:spPr>
        <p:txBody>
          <a:bodyPr wrap="square">
            <a:spAutoFit/>
          </a:bodyPr>
          <a:lstStyle/>
          <a:p>
            <a:pPr>
              <a:spcBef>
                <a:spcPts val="500"/>
              </a:spcBef>
            </a:pPr>
            <a:r>
              <a:rPr sz="1200" b="0">
                <a:solidFill>
                  <a:srgbClr val="1A1A2E"/>
                </a:solidFill>
                <a:latin typeface="Segoe UI"/>
              </a:rPr>
              <a:t>Admin  →  Integrations  →  Integrations  →  + Add Integration</a:t>
            </a:r>
          </a:p>
          <a:p>
            <a:pPr>
              <a:spcBef>
                <a:spcPts val="500"/>
              </a:spcBef>
            </a:pPr>
            <a:r>
              <a:rPr sz="1200" b="0">
                <a:solidFill>
                  <a:srgbClr val="1A1A2E"/>
                </a:solidFill>
                <a:latin typeface="Segoe UI"/>
              </a:rPr>
              <a:t>Search for  AudioHook  →  Install</a:t>
            </a:r>
          </a:p>
          <a:p>
            <a:pPr>
              <a:spcBef>
                <a:spcPts val="500"/>
              </a:spcBef>
            </a:pPr>
            <a:r>
              <a:rPr sz="1200" b="0">
                <a:solidFill>
                  <a:srgbClr val="1A1A2E"/>
                </a:solidFill>
                <a:latin typeface="Segoe UI"/>
              </a:rPr>
              <a:t>Name it:  Live Call Translation</a:t>
            </a:r>
          </a:p>
          <a:p>
            <a:pPr>
              <a:spcBef>
                <a:spcPts val="500"/>
              </a:spcBef>
            </a:pPr>
            <a:r>
              <a:rPr sz="1300" b="1">
                <a:solidFill>
                  <a:srgbClr val="003A6E"/>
                </a:solidFill>
                <a:latin typeface="Segoe UI"/>
              </a:rPr>
              <a:t>Configuration tab:</a:t>
            </a:r>
          </a:p>
          <a:p>
            <a:pPr lvl="1">
              <a:spcBef>
                <a:spcPts val="500"/>
              </a:spcBef>
            </a:pPr>
            <a:r>
              <a:rPr sz="1100" b="0">
                <a:solidFill>
                  <a:srgbClr val="6B2D8B"/>
                </a:solidFill>
                <a:latin typeface="Consolas"/>
              </a:rPr>
              <a:t>Connection URI:   wss://&lt;your-app-hostname&gt;/ws/genesys</a:t>
            </a:r>
          </a:p>
          <a:p>
            <a:pPr lvl="1">
              <a:spcBef>
                <a:spcPts val="200"/>
              </a:spcBef>
            </a:pPr>
            <a:r>
              <a:rPr sz="1100" b="0">
                <a:solidFill>
                  <a:srgbClr val="555566"/>
                </a:solidFill>
                <a:latin typeface="Segoe UI"/>
              </a:rPr>
              <a:t>Credentials:      leave blank  (no auth required)</a:t>
            </a:r>
          </a:p>
          <a:p>
            <a:pPr>
              <a:spcBef>
                <a:spcPts val="500"/>
              </a:spcBef>
            </a:pPr>
            <a:r>
              <a:rPr sz="1300" b="1">
                <a:solidFill>
                  <a:srgbClr val="003A6E"/>
                </a:solidFill>
                <a:latin typeface="Segoe UI"/>
              </a:rPr>
              <a:t>Advanced tab:</a:t>
            </a:r>
          </a:p>
          <a:p>
            <a:pPr lvl="1">
              <a:spcBef>
                <a:spcPts val="200"/>
              </a:spcBef>
            </a:pPr>
            <a:r>
              <a:rPr sz="1100" b="0">
                <a:solidFill>
                  <a:srgbClr val="555566"/>
                </a:solidFill>
                <a:latin typeface="Segoe UI"/>
              </a:rPr>
              <a:t>Channel:  external   ← streams the caller's audio, not the agent's</a:t>
            </a:r>
          </a:p>
          <a:p>
            <a:pPr>
              <a:spcBef>
                <a:spcPts val="500"/>
              </a:spcBef>
            </a:pPr>
            <a:r>
              <a:rPr sz="1200" b="0">
                <a:solidFill>
                  <a:srgbClr val="1A1A2E"/>
                </a:solidFill>
                <a:latin typeface="Segoe UI"/>
              </a:rPr>
              <a:t>Toggle integration status to  Active  →  Save</a:t>
            </a:r>
          </a:p>
          <a:p>
            <a:pPr>
              <a:spcBef>
                <a:spcPts val="200"/>
              </a:spcBef>
            </a:pPr>
            <a:r>
              <a:rPr sz="1100" b="0">
                <a:solidFill>
                  <a:srgbClr val="555566"/>
                </a:solidFill>
                <a:latin typeface="Segoe UI"/>
              </a:rPr>
              <a:t>Genesys performs a test WebSocket handshake to verify the URL is reachable</a:t>
            </a:r>
          </a:p>
        </p:txBody>
      </p:sp>
      <p:sp>
        <p:nvSpPr>
          <p:cNvPr id="10" name="Rectangle 9"/>
          <p:cNvSpPr/>
          <p:nvPr/>
        </p:nvSpPr>
        <p:spPr>
          <a:xfrm>
            <a:off x="228600" y="3767328"/>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 y="3803904"/>
            <a:ext cx="5522976" cy="201168"/>
          </a:xfrm>
          <a:prstGeom prst="rect">
            <a:avLst/>
          </a:prstGeom>
          <a:noFill/>
        </p:spPr>
        <p:txBody>
          <a:bodyPr wrap="square">
            <a:spAutoFit/>
          </a:bodyPr>
          <a:lstStyle/>
          <a:p>
            <a:pPr algn="l"/>
            <a:r>
              <a:rPr sz="900" b="1">
                <a:solidFill>
                  <a:srgbClr val="555566"/>
                </a:solidFill>
                <a:latin typeface="Segoe UI"/>
              </a:rPr>
              <a:t>STEP 2 — ADD AUDIOHOOK TO AN ARCHITECT CALL FLOW</a:t>
            </a:r>
          </a:p>
        </p:txBody>
      </p:sp>
      <p:sp>
        <p:nvSpPr>
          <p:cNvPr id="12" name="TextBox 11"/>
          <p:cNvSpPr txBox="1"/>
          <p:nvPr/>
        </p:nvSpPr>
        <p:spPr>
          <a:xfrm>
            <a:off x="228600" y="4087368"/>
            <a:ext cx="5669280" cy="2103120"/>
          </a:xfrm>
          <a:prstGeom prst="rect">
            <a:avLst/>
          </a:prstGeom>
          <a:noFill/>
        </p:spPr>
        <p:txBody>
          <a:bodyPr wrap="square">
            <a:spAutoFit/>
          </a:bodyPr>
          <a:lstStyle/>
          <a:p>
            <a:pPr>
              <a:spcBef>
                <a:spcPts val="500"/>
              </a:spcBef>
            </a:pPr>
            <a:r>
              <a:rPr sz="1200" b="0">
                <a:solidFill>
                  <a:srgbClr val="1A1A2E"/>
                </a:solidFill>
                <a:latin typeface="Segoe UI"/>
              </a:rPr>
              <a:t>Admin  →  Architect  →  open your Inbound Call Flow</a:t>
            </a:r>
          </a:p>
          <a:p>
            <a:pPr>
              <a:spcBef>
                <a:spcPts val="500"/>
              </a:spcBef>
            </a:pPr>
            <a:r>
              <a:rPr sz="1200" b="0">
                <a:solidFill>
                  <a:srgbClr val="1A1A2E"/>
                </a:solidFill>
                <a:latin typeface="Segoe UI"/>
              </a:rPr>
              <a:t>Find where callers should enter translation (before transferring to a queue)</a:t>
            </a:r>
          </a:p>
          <a:p>
            <a:pPr>
              <a:spcBef>
                <a:spcPts val="500"/>
              </a:spcBef>
            </a:pPr>
            <a:r>
              <a:rPr sz="1200" b="0">
                <a:solidFill>
                  <a:srgbClr val="1A1A2E"/>
                </a:solidFill>
                <a:latin typeface="Segoe UI"/>
              </a:rPr>
              <a:t>Add a  Call AudioHook  action from the toolbox:</a:t>
            </a:r>
          </a:p>
          <a:p>
            <a:pPr lvl="1">
              <a:spcBef>
                <a:spcPts val="200"/>
              </a:spcBef>
            </a:pPr>
            <a:r>
              <a:rPr sz="1100" b="0">
                <a:solidFill>
                  <a:srgbClr val="555566"/>
                </a:solidFill>
                <a:latin typeface="Segoe UI"/>
              </a:rPr>
              <a:t>Integration:  select  Live Call Translation</a:t>
            </a:r>
          </a:p>
          <a:p>
            <a:pPr>
              <a:spcBef>
                <a:spcPts val="500"/>
              </a:spcBef>
            </a:pPr>
            <a:r>
              <a:rPr sz="1200" b="0">
                <a:solidFill>
                  <a:srgbClr val="1A1A2E"/>
                </a:solidFill>
                <a:latin typeface="Segoe UI"/>
              </a:rPr>
              <a:t>Optional — pass the caller language as an input variable:</a:t>
            </a:r>
          </a:p>
          <a:p>
            <a:pPr lvl="1">
              <a:spcBef>
                <a:spcPts val="200"/>
              </a:spcBef>
            </a:pPr>
            <a:r>
              <a:rPr sz="1100" b="0">
                <a:solidFill>
                  <a:srgbClr val="555566"/>
                </a:solidFill>
                <a:latin typeface="Segoe UI"/>
              </a:rPr>
              <a:t>Variable name:  language     Value examples:  es-MX  ·  zh-CN  ·  hi-IN  ·  fr-FR</a:t>
            </a:r>
          </a:p>
          <a:p>
            <a:pPr lvl="1">
              <a:spcBef>
                <a:spcPts val="200"/>
              </a:spcBef>
            </a:pPr>
            <a:r>
              <a:rPr sz="1100" b="0">
                <a:solidFill>
                  <a:srgbClr val="555566"/>
                </a:solidFill>
                <a:latin typeface="Segoe UI"/>
              </a:rPr>
              <a:t>If not set, the agent selects the language manually from the Agent UI</a:t>
            </a:r>
          </a:p>
          <a:p>
            <a:pPr>
              <a:spcBef>
                <a:spcPts val="500"/>
              </a:spcBef>
            </a:pPr>
            <a:r>
              <a:rPr sz="1200" b="0">
                <a:solidFill>
                  <a:srgbClr val="1A1A2E"/>
                </a:solidFill>
                <a:latin typeface="Segoe UI"/>
              </a:rPr>
              <a:t>After the AudioHook action, connect the flow to your agent queue as normal</a:t>
            </a:r>
          </a:p>
          <a:p>
            <a:pPr>
              <a:spcBef>
                <a:spcPts val="500"/>
              </a:spcBef>
            </a:pPr>
            <a:r>
              <a:rPr sz="1200" b="0">
                <a:solidFill>
                  <a:srgbClr val="1A1A2E"/>
                </a:solidFill>
                <a:latin typeface="Segoe UI"/>
              </a:rPr>
              <a:t>Save and Publish the flow</a:t>
            </a:r>
          </a:p>
        </p:txBody>
      </p:sp>
      <p:sp>
        <p:nvSpPr>
          <p:cNvPr id="13" name="Rectangle 12"/>
          <p:cNvSpPr/>
          <p:nvPr/>
        </p:nvSpPr>
        <p:spPr>
          <a:xfrm>
            <a:off x="6263640" y="1033271"/>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6792" y="1069848"/>
            <a:ext cx="5522976" cy="201168"/>
          </a:xfrm>
          <a:prstGeom prst="rect">
            <a:avLst/>
          </a:prstGeom>
          <a:noFill/>
        </p:spPr>
        <p:txBody>
          <a:bodyPr wrap="square">
            <a:spAutoFit/>
          </a:bodyPr>
          <a:lstStyle/>
          <a:p>
            <a:pPr algn="l"/>
            <a:r>
              <a:rPr sz="900" b="1">
                <a:solidFill>
                  <a:srgbClr val="555566"/>
                </a:solidFill>
                <a:latin typeface="Segoe UI"/>
              </a:rPr>
              <a:t>STEP 3 — AGENT SETUP (PER CALL)</a:t>
            </a:r>
          </a:p>
        </p:txBody>
      </p:sp>
      <p:sp>
        <p:nvSpPr>
          <p:cNvPr id="15" name="TextBox 14"/>
          <p:cNvSpPr txBox="1"/>
          <p:nvPr/>
        </p:nvSpPr>
        <p:spPr>
          <a:xfrm>
            <a:off x="6263640" y="1353312"/>
            <a:ext cx="5669280" cy="2331720"/>
          </a:xfrm>
          <a:prstGeom prst="rect">
            <a:avLst/>
          </a:prstGeom>
          <a:noFill/>
        </p:spPr>
        <p:txBody>
          <a:bodyPr wrap="square">
            <a:spAutoFit/>
          </a:bodyPr>
          <a:lstStyle/>
          <a:p>
            <a:pPr>
              <a:spcBef>
                <a:spcPts val="500"/>
              </a:spcBef>
            </a:pPr>
            <a:r>
              <a:rPr sz="1200" b="0">
                <a:solidFill>
                  <a:srgbClr val="1A1A2E"/>
                </a:solidFill>
                <a:latin typeface="Segoe UI"/>
              </a:rPr>
              <a:t>Agent opens in their browser:</a:t>
            </a:r>
          </a:p>
          <a:p>
            <a:pPr lvl="1">
              <a:spcBef>
                <a:spcPts val="500"/>
              </a:spcBef>
            </a:pPr>
            <a:r>
              <a:rPr sz="1100" b="0">
                <a:solidFill>
                  <a:srgbClr val="6B2D8B"/>
                </a:solidFill>
                <a:latin typeface="Consolas"/>
              </a:rPr>
              <a:t>https://&lt;your-app-hostname&gt;/agent/?code=&lt;auth-code&gt;</a:t>
            </a:r>
          </a:p>
          <a:p>
            <a:pPr>
              <a:spcBef>
                <a:spcPts val="500"/>
              </a:spcBef>
            </a:pPr>
            <a:r>
              <a:rPr sz="1200" b="0">
                <a:solidFill>
                  <a:srgbClr val="1A1A2E"/>
                </a:solidFill>
                <a:latin typeface="Segoe UI"/>
              </a:rPr>
              <a:t>When a translated call arrives it appears in the call list automatically</a:t>
            </a:r>
          </a:p>
          <a:p>
            <a:pPr>
              <a:spcBef>
                <a:spcPts val="500"/>
              </a:spcBef>
            </a:pPr>
            <a:r>
              <a:rPr sz="1200" b="0">
                <a:solidFill>
                  <a:srgbClr val="1A1A2E"/>
                </a:solidFill>
                <a:latin typeface="Segoe UI"/>
              </a:rPr>
              <a:t>Agent selects the caller's language and clicks  Connect</a:t>
            </a:r>
          </a:p>
          <a:p>
            <a:pPr>
              <a:spcBef>
                <a:spcPts val="500"/>
              </a:spcBef>
            </a:pPr>
            <a:r>
              <a:rPr sz="1200" b="0">
                <a:solidFill>
                  <a:srgbClr val="1A1A2E"/>
                </a:solidFill>
                <a:latin typeface="Segoe UI"/>
              </a:rPr>
              <a:t>Agent hears the caller translated in real time + sees live transcription</a:t>
            </a:r>
          </a:p>
          <a:p>
            <a:pPr>
              <a:spcBef>
                <a:spcPts val="500"/>
              </a:spcBef>
            </a:pPr>
            <a:r>
              <a:rPr sz="1200" b="0">
                <a:solidFill>
                  <a:srgbClr val="1A1A2E"/>
                </a:solidFill>
                <a:latin typeface="Segoe UI"/>
              </a:rPr>
              <a:t>When the agent speaks, their words are translated and played to the caller</a:t>
            </a:r>
          </a:p>
          <a:p>
            <a:pPr>
              <a:spcBef>
                <a:spcPts val="500"/>
              </a:spcBef>
            </a:pPr>
            <a:r>
              <a:rPr sz="1200" b="0">
                <a:solidFill>
                  <a:srgbClr val="1A1A2E"/>
                </a:solidFill>
                <a:latin typeface="Segoe UI"/>
              </a:rPr>
              <a:t>Audio mixing options (adjustable mid-call):</a:t>
            </a:r>
          </a:p>
          <a:p>
            <a:pPr lvl="1">
              <a:spcBef>
                <a:spcPts val="200"/>
              </a:spcBef>
            </a:pPr>
            <a:r>
              <a:rPr sz="1100" b="0">
                <a:solidFill>
                  <a:srgbClr val="555566"/>
                </a:solidFill>
                <a:latin typeface="Segoe UI"/>
              </a:rPr>
              <a:t>User Translated Audio  ← enable this  (hear caller in your language)</a:t>
            </a:r>
          </a:p>
          <a:p>
            <a:pPr lvl="1">
              <a:spcBef>
                <a:spcPts val="200"/>
              </a:spcBef>
            </a:pPr>
            <a:r>
              <a:rPr sz="1100" b="0">
                <a:solidFill>
                  <a:srgbClr val="555566"/>
                </a:solidFill>
                <a:latin typeface="Segoe UI"/>
              </a:rPr>
              <a:t>User Original Audio    (hear caller's raw voice — for verification)</a:t>
            </a:r>
          </a:p>
          <a:p>
            <a:pPr lvl="1">
              <a:spcBef>
                <a:spcPts val="200"/>
              </a:spcBef>
            </a:pPr>
            <a:r>
              <a:rPr sz="1100" b="0">
                <a:solidFill>
                  <a:srgbClr val="555566"/>
                </a:solidFill>
                <a:latin typeface="Segoe UI"/>
              </a:rPr>
              <a:t>Agent Translated Audio (hear your own words translated back)</a:t>
            </a:r>
          </a:p>
        </p:txBody>
      </p:sp>
      <p:sp>
        <p:nvSpPr>
          <p:cNvPr id="16" name="Rectangle 15"/>
          <p:cNvSpPr/>
          <p:nvPr/>
        </p:nvSpPr>
        <p:spPr>
          <a:xfrm>
            <a:off x="6263640" y="3767328"/>
            <a:ext cx="5669280" cy="256032"/>
          </a:xfrm>
          <a:prstGeom prst="rect">
            <a:avLst/>
          </a:prstGeom>
          <a:solidFill>
            <a:srgbClr val="E8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36792" y="3803904"/>
            <a:ext cx="5522976" cy="201168"/>
          </a:xfrm>
          <a:prstGeom prst="rect">
            <a:avLst/>
          </a:prstGeom>
          <a:noFill/>
        </p:spPr>
        <p:txBody>
          <a:bodyPr wrap="square">
            <a:spAutoFit/>
          </a:bodyPr>
          <a:lstStyle/>
          <a:p>
            <a:pPr algn="l"/>
            <a:r>
              <a:rPr sz="900" b="1">
                <a:solidFill>
                  <a:srgbClr val="555566"/>
                </a:solidFill>
                <a:latin typeface="Segoe UI"/>
              </a:rPr>
              <a:t>APPLICATION SETTINGS REQUIRED (SERVER SIDE)</a:t>
            </a:r>
          </a:p>
        </p:txBody>
      </p:sp>
      <p:sp>
        <p:nvSpPr>
          <p:cNvPr id="18" name="TextBox 17"/>
          <p:cNvSpPr txBox="1"/>
          <p:nvPr/>
        </p:nvSpPr>
        <p:spPr>
          <a:xfrm>
            <a:off x="6263640" y="4087368"/>
            <a:ext cx="5669280" cy="1645920"/>
          </a:xfrm>
          <a:prstGeom prst="rect">
            <a:avLst/>
          </a:prstGeom>
          <a:noFill/>
        </p:spPr>
        <p:txBody>
          <a:bodyPr wrap="square">
            <a:spAutoFit/>
          </a:bodyPr>
          <a:lstStyle/>
          <a:p>
            <a:pPr>
              <a:spcBef>
                <a:spcPts val="500"/>
              </a:spcBef>
            </a:pPr>
            <a:r>
              <a:rPr sz="1300" b="1">
                <a:solidFill>
                  <a:srgbClr val="003A6E"/>
                </a:solidFill>
                <a:latin typeface="Segoe UI"/>
              </a:rPr>
              <a:t>Required</a:t>
            </a:r>
          </a:p>
          <a:p>
            <a:pPr lvl="1">
              <a:spcBef>
                <a:spcPts val="200"/>
              </a:spcBef>
            </a:pPr>
            <a:r>
              <a:rPr sz="1100" b="0">
                <a:solidFill>
                  <a:srgbClr val="555566"/>
                </a:solidFill>
                <a:latin typeface="Segoe UI"/>
              </a:rPr>
              <a:t>AzureAISpeech:ResourceID   — Azure AI Speech resource ID</a:t>
            </a:r>
          </a:p>
          <a:p>
            <a:pPr lvl="1">
              <a:spcBef>
                <a:spcPts val="200"/>
              </a:spcBef>
            </a:pPr>
            <a:r>
              <a:rPr sz="1100" b="0">
                <a:solidFill>
                  <a:srgbClr val="555566"/>
                </a:solidFill>
                <a:latin typeface="Segoe UI"/>
              </a:rPr>
              <a:t>AzureAISpeech:Region       — Azure region  (e.g. eastus, australiaeast)</a:t>
            </a:r>
          </a:p>
          <a:p>
            <a:pPr>
              <a:spcBef>
                <a:spcPts val="500"/>
              </a:spcBef>
            </a:pPr>
            <a:r>
              <a:rPr sz="1300" b="1">
                <a:solidFill>
                  <a:srgbClr val="003A6E"/>
                </a:solidFill>
                <a:latin typeface="Segoe UI"/>
              </a:rPr>
              <a:t>Optional</a:t>
            </a:r>
          </a:p>
          <a:p>
            <a:pPr lvl="1">
              <a:spcBef>
                <a:spcPts val="200"/>
              </a:spcBef>
            </a:pPr>
            <a:r>
              <a:rPr sz="1100" b="0">
                <a:solidFill>
                  <a:srgbClr val="555566"/>
                </a:solidFill>
                <a:latin typeface="Segoe UI"/>
              </a:rPr>
              <a:t>AuthCode                   — protects the Agent UI  (/agent/?code=...)</a:t>
            </a:r>
          </a:p>
          <a:p>
            <a:pPr>
              <a:spcBef>
                <a:spcPts val="500"/>
              </a:spcBef>
            </a:pPr>
            <a:r>
              <a:rPr sz="1300" b="1">
                <a:solidFill>
                  <a:srgbClr val="003A6E"/>
                </a:solidFill>
                <a:latin typeface="Segoe UI"/>
              </a:rPr>
              <a:t>Not needed for Genesys mode</a:t>
            </a:r>
          </a:p>
          <a:p>
            <a:pPr lvl="1">
              <a:spcBef>
                <a:spcPts val="200"/>
              </a:spcBef>
            </a:pPr>
            <a:r>
              <a:rPr sz="1100" b="0">
                <a:solidFill>
                  <a:srgbClr val="555566"/>
                </a:solidFill>
                <a:latin typeface="Segoe UI"/>
              </a:rPr>
              <a:t>ACS settings, EventGrid, phone number, managed identity roles</a:t>
            </a:r>
          </a:p>
        </p:txBody>
      </p:sp>
      <p:sp>
        <p:nvSpPr>
          <p:cNvPr id="19" name="Rectangle 18"/>
          <p:cNvSpPr/>
          <p:nvPr/>
        </p:nvSpPr>
        <p:spPr>
          <a:xfrm>
            <a:off x="228600" y="6309360"/>
            <a:ext cx="11731752" cy="411480"/>
          </a:xfrm>
          <a:prstGeom prst="rect">
            <a:avLst/>
          </a:prstGeom>
          <a:solidFill>
            <a:srgbClr val="FFF0C0"/>
          </a:solidFill>
          <a:ln w="12700">
            <a:solidFill>
              <a:srgbClr val="CC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 y="6364224"/>
            <a:ext cx="11430000" cy="320040"/>
          </a:xfrm>
          <a:prstGeom prst="rect">
            <a:avLst/>
          </a:prstGeom>
          <a:noFill/>
        </p:spPr>
        <p:txBody>
          <a:bodyPr wrap="square">
            <a:spAutoFit/>
          </a:bodyPr>
          <a:lstStyle/>
          <a:p>
            <a:pPr algn="l"/>
            <a:r>
              <a:rPr sz="1000" b="0">
                <a:solidFill>
                  <a:srgbClr val="1A1A2E"/>
                </a:solidFill>
                <a:latin typeface="Segoe UI"/>
              </a:rPr>
              <a:t>ⓘ  The /ws/genesys endpoint is intentionally unauthenticated — Genesys does not support credentials on AudioHook connections. Restrict access via IP allowlisting if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TotalTime>
  <Words>2947</Words>
  <Application>Microsoft Office PowerPoint</Application>
  <PresentationFormat>Custom</PresentationFormat>
  <Paragraphs>259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Shikha Sinha</cp:lastModifiedBy>
  <cp:revision>2</cp:revision>
  <dcterms:created xsi:type="dcterms:W3CDTF">2013-01-27T09:14:16Z</dcterms:created>
  <dcterms:modified xsi:type="dcterms:W3CDTF">2026-03-31T03:10:40Z</dcterms:modified>
  <cp:category/>
</cp:coreProperties>
</file>